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ead3083f0e4caf" /><Relationship Type="http://schemas.openxmlformats.org/officeDocument/2006/relationships/extended-properties" Target="/docProps/app.xml" Id="R047dd10fef19453d" /><Relationship Type="http://schemas.openxmlformats.org/officeDocument/2006/relationships/officeDocument" Target="/ppt/presentation.xml" Id="R50010da2ab0947ee" /></Relationships>
</file>

<file path=ppt/presentation.xml><?xml version="1.0" encoding="utf-8"?>
<p:presentation xmlns:p="http://schemas.openxmlformats.org/presentationml/2006/main">
  <p:sldMasterIdLst>
    <p:sldMasterId xmlns:r="http://schemas.openxmlformats.org/officeDocument/2006/relationships" id="2147483648" r:id="Ra5c81da206da46f1"/>
  </p:sldMasterIdLst>
  <p:notesMasterIdLst>
    <p:notesMasterId xmlns:r="http://schemas.openxmlformats.org/officeDocument/2006/relationships" r:id="Ref9fab040ada4dac"/>
  </p:notesMasterIdLst>
  <p:sldIdLst>
    <p:sldId xmlns:r="http://schemas.openxmlformats.org/officeDocument/2006/relationships" id="256" r:id="Re3c5302b71f44dff"/>
    <p:sldId xmlns:r="http://schemas.openxmlformats.org/officeDocument/2006/relationships" id="257" r:id="R9ffc9a354e2b4bd1"/>
    <p:sldId xmlns:r="http://schemas.openxmlformats.org/officeDocument/2006/relationships" id="258" r:id="R30634e1a5b874412"/>
    <p:sldId xmlns:r="http://schemas.openxmlformats.org/officeDocument/2006/relationships" id="259" r:id="R182791a73b844d43"/>
    <p:sldId xmlns:r="http://schemas.openxmlformats.org/officeDocument/2006/relationships" id="260" r:id="R67f46614fdda471a"/>
    <p:sldId xmlns:r="http://schemas.openxmlformats.org/officeDocument/2006/relationships" id="261" r:id="Rc140908ddd484005"/>
    <p:sldId xmlns:r="http://schemas.openxmlformats.org/officeDocument/2006/relationships" id="262" r:id="R98bd3d92648a4be0"/>
    <p:sldId xmlns:r="http://schemas.openxmlformats.org/officeDocument/2006/relationships" id="263" r:id="Rdf87aa4e69bf467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5c81da206da46f1" /><Relationship Type="http://schemas.openxmlformats.org/officeDocument/2006/relationships/theme" Target="/ppt/theme/theme1.xml" Id="R32cb77647b634bed" /><Relationship Type="http://schemas.openxmlformats.org/officeDocument/2006/relationships/notesMaster" Target="/ppt/notesMasters/notesMaster1.xml" Id="Ref9fab040ada4dac" /><Relationship Type="http://schemas.openxmlformats.org/officeDocument/2006/relationships/presProps" Target="/ppt/presProps.xml" Id="Rfaa4fef237b24f4a" /><Relationship Type="http://schemas.openxmlformats.org/officeDocument/2006/relationships/viewProps" Target="/ppt/viewProps.xml" Id="Rcc7ffe346cb44088" /><Relationship Type="http://schemas.openxmlformats.org/officeDocument/2006/relationships/tableStyles" Target="/ppt/tableStyles.xml" Id="R7dc2c5318f5246ea" /><Relationship Type="http://schemas.openxmlformats.org/officeDocument/2006/relationships/slide" Target="/ppt/slides/slide1.xml" Id="Re3c5302b71f44dff" /><Relationship Type="http://schemas.openxmlformats.org/officeDocument/2006/relationships/slide" Target="/ppt/slides/slide2.xml" Id="R9ffc9a354e2b4bd1" /><Relationship Type="http://schemas.openxmlformats.org/officeDocument/2006/relationships/slide" Target="/ppt/slides/slide3.xml" Id="R30634e1a5b874412" /><Relationship Type="http://schemas.openxmlformats.org/officeDocument/2006/relationships/slide" Target="/ppt/slides/slide4.xml" Id="R182791a73b844d43" /><Relationship Type="http://schemas.openxmlformats.org/officeDocument/2006/relationships/slide" Target="/ppt/slides/slide5.xml" Id="R67f46614fdda471a" /><Relationship Type="http://schemas.openxmlformats.org/officeDocument/2006/relationships/slide" Target="/ppt/slides/slide6.xml" Id="Rc140908ddd484005" /><Relationship Type="http://schemas.openxmlformats.org/officeDocument/2006/relationships/slide" Target="/ppt/slides/slide7.xml" Id="R98bd3d92648a4be0" /><Relationship Type="http://schemas.openxmlformats.org/officeDocument/2006/relationships/slide" Target="/ppt/slides/slide8.xml" Id="Rdf87aa4e69bf46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97ee191513d45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58c16c6d064b14" /><Relationship Type="http://schemas.openxmlformats.org/officeDocument/2006/relationships/notesMaster" Target="/ppt/notesMasters/notesMaster1.xml" Id="Re565bd57de6849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e14240ebd94e5b" /><Relationship Type="http://schemas.openxmlformats.org/officeDocument/2006/relationships/notesMaster" Target="/ppt/notesMasters/notesMaster1.xml" Id="R1539196ae8e943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d684f1c2a6417b" /><Relationship Type="http://schemas.openxmlformats.org/officeDocument/2006/relationships/notesMaster" Target="/ppt/notesMasters/notesMaster1.xml" Id="R73a065994fc345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75e78aaed04b26" /><Relationship Type="http://schemas.openxmlformats.org/officeDocument/2006/relationships/notesMaster" Target="/ppt/notesMasters/notesMaster1.xml" Id="R7257c628c1d6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d59be23914402f" /><Relationship Type="http://schemas.openxmlformats.org/officeDocument/2006/relationships/notesMaster" Target="/ppt/notesMasters/notesMaster1.xml" Id="Rfca5b73eec7d49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38883432e94fb8" /><Relationship Type="http://schemas.openxmlformats.org/officeDocument/2006/relationships/notesMaster" Target="/ppt/notesMasters/notesMaster1.xml" Id="Rdf7a45df70c74d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b66cbee8374852" /><Relationship Type="http://schemas.openxmlformats.org/officeDocument/2006/relationships/notesMaster" Target="/ppt/notesMasters/notesMaster1.xml" Id="R6132b3812f5f4d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ea566cabc745d5" /><Relationship Type="http://schemas.openxmlformats.org/officeDocument/2006/relationships/notesMaster" Target="/ppt/notesMasters/notesMaster1.xml" Id="R8d8a482f3f8845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cab2b78fd6f4db6"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c83e6cdfa764b6c" /><Relationship Type="http://schemas.openxmlformats.org/officeDocument/2006/relationships/slideLayout" Target="/ppt/slideLayouts/slideLayout2.xml" Id="R34f9fb845c3644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f9fb845c3644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0c3f9f8d905e4671" /><Relationship Type="http://schemas.openxmlformats.org/officeDocument/2006/relationships/notesSlide" Target="/ppt/notesSlides/notesSlide1.xml" Id="R36ab96a2167d4d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2a1595af73f4e43" /><Relationship Type="http://schemas.openxmlformats.org/officeDocument/2006/relationships/notesSlide" Target="/ppt/notesSlides/notesSlide2.xml" Id="R31fad13a837842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724996d564743af" /><Relationship Type="http://schemas.openxmlformats.org/officeDocument/2006/relationships/notesSlide" Target="/ppt/notesSlides/notesSlide3.xml" Id="R4e83e1dd7b6f4a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2429562cab440f9" /><Relationship Type="http://schemas.openxmlformats.org/officeDocument/2006/relationships/notesSlide" Target="/ppt/notesSlides/notesSlide4.xml" Id="R08bfdbbb82654a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4c29fbe96474d71" /><Relationship Type="http://schemas.openxmlformats.org/officeDocument/2006/relationships/notesSlide" Target="/ppt/notesSlides/notesSlide5.xml" Id="Ra2f297d7380848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2c81b3e25cd4191" /><Relationship Type="http://schemas.openxmlformats.org/officeDocument/2006/relationships/notesSlide" Target="/ppt/notesSlides/notesSlide6.xml" Id="Rabb24faf79f14b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1e4c008e3b24679" /><Relationship Type="http://schemas.openxmlformats.org/officeDocument/2006/relationships/notesSlide" Target="/ppt/notesSlides/notesSlide7.xml" Id="Rb67ec2f8567e47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7cdbc50bf4c4345" /><Relationship Type="http://schemas.openxmlformats.org/officeDocument/2006/relationships/notesSlide" Target="/ppt/notesSlides/notesSlide8.xml" Id="Ree984808a69d40c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65B172-E1A0-4C5E-8627-8B55F863FC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780F5F5-335C-4061-A303-4CC809A7D33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97C10C5-1324-437A-AA76-6CB897B45658}"/>
              </a:ext>
            </a:extLst>
          </p:cNvPr>
          <p:cNvSpPr>
            <a:spLocks xmlns:a="http://schemas.openxmlformats.org/drawingml/2006/main" noGrp="1"/>
          </p:cNvSpPr>
          <p:nvPr/>
        </p:nvSpPr>
        <p:spPr>
          <a:xfrm xmlns:a="http://schemas.openxmlformats.org/drawingml/2006/main">
            <a:off x="666750" y="552450"/>
            <a:ext cx="514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5D4F"/>
                </a:solidFill>
                <a:latin typeface="Avenir Next"/>
                <a:ea typeface="Avenir Next"/>
                <a:cs typeface="Avenir Next"/>
              </a:defRPr>
            </a:pPr>
            <a:r>
              <a:rPr sz="750" b="1">
                <a:solidFill>
                  <a:srgbClr val="6A5D4F"/>
                </a:solidFill>
                <a:latin typeface="Avenir Next"/>
                <a:ea typeface="Avenir Next"/>
                <a:cs typeface="Avenir Next"/>
              </a:rPr>
              <a:t>CHƯƠNG 3 · GIÁ TRỊ THẶNG DƯ</a:t>
            </a:r>
          </a:p>
        </p:txBody>
      </p:sp>
      <p:sp>
        <p:nvSpPr>
          <p:cNvPr id="4" name="">
            <a:extLst xmlns:a="http://schemas.openxmlformats.org/drawingml/2006/main">
              <a:ext uri="{FF2B5EF4-FFF2-40B4-BE49-F238E27FC236}">
                <a16:creationId xmlns:a16="http://schemas.microsoft.com/office/drawing/2014/main" id="{63F7F07C-4D90-4103-B73E-40F6DB5BC661}"/>
              </a:ext>
            </a:extLst>
          </p:cNvPr>
          <p:cNvSpPr>
            <a:spLocks xmlns:a="http://schemas.openxmlformats.org/drawingml/2006/main" noGrp="1"/>
          </p:cNvSpPr>
          <p:nvPr/>
        </p:nvSpPr>
        <p:spPr>
          <a:xfrm xmlns:a="http://schemas.openxmlformats.org/drawingml/2006/main">
            <a:off x="666750" y="1524000"/>
            <a:ext cx="74295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1F1A14"/>
                </a:solidFill>
                <a:latin typeface="Georgia"/>
                <a:ea typeface="Georgia"/>
                <a:cs typeface="Georgia"/>
              </a:defRPr>
            </a:pPr>
            <a:r>
              <a:rPr sz="3600" b="1">
                <a:solidFill>
                  <a:srgbClr val="1F1A14"/>
                </a:solidFill>
                <a:latin typeface="Georgia"/>
                <a:ea typeface="Georgia"/>
                <a:cs typeface="Georgia"/>
              </a:rPr>
              <a:t>Alpha Corp và điểm nghẽn trong tuần hoàn tư bản</a:t>
            </a:r>
          </a:p>
        </p:txBody>
      </p:sp>
      <p:sp>
        <p:nvSpPr>
          <p:cNvPr id="5" name="">
            <a:extLst xmlns:a="http://schemas.openxmlformats.org/drawingml/2006/main">
              <a:ext uri="{FF2B5EF4-FFF2-40B4-BE49-F238E27FC236}">
                <a16:creationId xmlns:a16="http://schemas.microsoft.com/office/drawing/2014/main" id="{7C89231E-D2B6-4574-BC10-C19AB0A44601}"/>
              </a:ext>
            </a:extLst>
          </p:cNvPr>
          <p:cNvSpPr>
            <a:spLocks xmlns:a="http://schemas.openxmlformats.org/drawingml/2006/main" noGrp="1"/>
          </p:cNvSpPr>
          <p:nvPr/>
        </p:nvSpPr>
        <p:spPr>
          <a:xfrm xmlns:a="http://schemas.openxmlformats.org/drawingml/2006/main">
            <a:off x="685800" y="3352800"/>
            <a:ext cx="6572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A5D4F"/>
                </a:solidFill>
                <a:latin typeface="Avenir Next"/>
                <a:ea typeface="Avenir Next"/>
                <a:cs typeface="Avenir Next"/>
              </a:defRPr>
            </a:pPr>
            <a:r>
              <a:rPr sz="1275" b="0">
                <a:solidFill>
                  <a:srgbClr val="6A5D4F"/>
                </a:solidFill>
                <a:latin typeface="Avenir Next"/>
                <a:ea typeface="Avenir Next"/>
                <a:cs typeface="Avenir Next"/>
              </a:rPr>
              <a:t>Bài thuyết trình phân tích tình huống một tập đoàn bất động sản vay vốn, xây xong sản phẩm nhưng không bán được, từ đó làm rõ điều kiện liên tục của tuần hoàn tư bản.</a:t>
            </a:r>
          </a:p>
        </p:txBody>
      </p:sp>
      <p:sp>
        <p:nvSpPr>
          <p:cNvPr id="6" name="">
            <a:extLst xmlns:a="http://schemas.openxmlformats.org/drawingml/2006/main">
              <a:ext uri="{FF2B5EF4-FFF2-40B4-BE49-F238E27FC236}">
                <a16:creationId xmlns:a16="http://schemas.microsoft.com/office/drawing/2014/main" id="{25A303B9-00BE-4192-BCC7-1DC23508D4EE}"/>
              </a:ext>
            </a:extLst>
          </p:cNvPr>
          <p:cNvSpPr>
            <a:spLocks xmlns:a="http://schemas.openxmlformats.org/drawingml/2006/main" noGrp="1"/>
          </p:cNvSpPr>
          <p:nvPr/>
        </p:nvSpPr>
        <p:spPr>
          <a:xfrm xmlns:a="http://schemas.openxmlformats.org/drawingml/2006/main">
            <a:off x="8401050" y="1028700"/>
            <a:ext cx="2476500" cy="390525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4CD179F-5626-4F8C-A729-3AEBC15B8373}"/>
              </a:ext>
            </a:extLst>
          </p:cNvPr>
          <p:cNvSpPr>
            <a:spLocks xmlns:a="http://schemas.openxmlformats.org/drawingml/2006/main" noGrp="1"/>
          </p:cNvSpPr>
          <p:nvPr/>
        </p:nvSpPr>
        <p:spPr>
          <a:xfrm xmlns:a="http://schemas.openxmlformats.org/drawingml/2006/main">
            <a:off x="8686800" y="1352550"/>
            <a:ext cx="1905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E8D8C5"/>
                </a:solidFill>
                <a:latin typeface="Avenir Next"/>
                <a:ea typeface="Avenir Next"/>
                <a:cs typeface="Avenir Next"/>
              </a:defRPr>
            </a:pPr>
            <a:r>
              <a:rPr sz="1050" b="1">
                <a:solidFill>
                  <a:srgbClr val="E8D8C5"/>
                </a:solidFill>
                <a:latin typeface="Avenir Next"/>
                <a:ea typeface="Avenir Next"/>
                <a:cs typeface="Avenir Next"/>
              </a:rPr>
              <a:t>Câu hỏi trung tâm</a:t>
            </a:r>
          </a:p>
        </p:txBody>
      </p:sp>
      <p:sp>
        <p:nvSpPr>
          <p:cNvPr id="8" name="">
            <a:extLst xmlns:a="http://schemas.openxmlformats.org/drawingml/2006/main">
              <a:ext uri="{FF2B5EF4-FFF2-40B4-BE49-F238E27FC236}">
                <a16:creationId xmlns:a16="http://schemas.microsoft.com/office/drawing/2014/main" id="{BDCAB374-B3DB-4686-BB72-AEE925111D73}"/>
              </a:ext>
            </a:extLst>
          </p:cNvPr>
          <p:cNvSpPr>
            <a:spLocks xmlns:a="http://schemas.openxmlformats.org/drawingml/2006/main" noGrp="1"/>
          </p:cNvSpPr>
          <p:nvPr/>
        </p:nvSpPr>
        <p:spPr>
          <a:xfrm xmlns:a="http://schemas.openxmlformats.org/drawingml/2006/main">
            <a:off x="8629650" y="1809750"/>
            <a:ext cx="192405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Georgia"/>
                <a:ea typeface="Georgia"/>
                <a:cs typeface="Georgia"/>
              </a:defRPr>
            </a:pPr>
            <a:r>
              <a:rPr sz="1650" b="1">
                <a:solidFill>
                  <a:srgbClr val="FFFFFF"/>
                </a:solidFill>
                <a:latin typeface="Georgia"/>
                <a:ea typeface="Georgia"/>
                <a:cs typeface="Georgia"/>
              </a:rPr>
              <a:t>Vốn của Alpha Corp đang bị mắc kẹt ở hình thái nào trong công thức tuần hoàn?</a:t>
            </a:r>
          </a:p>
        </p:txBody>
      </p:sp>
      <p:sp>
        <p:nvSpPr>
          <p:cNvPr id="9" name="">
            <a:extLst xmlns:a="http://schemas.openxmlformats.org/drawingml/2006/main">
              <a:ext uri="{FF2B5EF4-FFF2-40B4-BE49-F238E27FC236}">
                <a16:creationId xmlns:a16="http://schemas.microsoft.com/office/drawing/2014/main" id="{8FB5C71F-3447-45CE-9211-E459C7EA3A6E}"/>
              </a:ext>
            </a:extLst>
          </p:cNvPr>
          <p:cNvSpPr>
            <a:spLocks xmlns:a="http://schemas.openxmlformats.org/drawingml/2006/main" noGrp="1"/>
          </p:cNvSpPr>
          <p:nvPr/>
        </p:nvSpPr>
        <p:spPr>
          <a:xfrm xmlns:a="http://schemas.openxmlformats.org/drawingml/2006/main">
            <a:off x="8858250" y="3200400"/>
            <a:ext cx="1524000" cy="190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C6CD0A8-DB97-4418-B933-ADB7F77DBDB5}"/>
              </a:ext>
            </a:extLst>
          </p:cNvPr>
          <p:cNvSpPr>
            <a:spLocks xmlns:a="http://schemas.openxmlformats.org/drawingml/2006/main" noGrp="1"/>
          </p:cNvSpPr>
          <p:nvPr/>
        </p:nvSpPr>
        <p:spPr>
          <a:xfrm xmlns:a="http://schemas.openxmlformats.org/drawingml/2006/main">
            <a:off x="8667750" y="3524250"/>
            <a:ext cx="20002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EBD3C3"/>
                </a:solidFill>
                <a:latin typeface="Avenir Next"/>
                <a:ea typeface="Avenir Next"/>
                <a:cs typeface="Avenir Next"/>
              </a:defRPr>
            </a:pPr>
            <a:r>
              <a:rPr sz="975" b="0">
                <a:solidFill>
                  <a:srgbClr val="EBD3C3"/>
                </a:solidFill>
                <a:latin typeface="Avenir Next"/>
                <a:ea typeface="Avenir Next"/>
                <a:cs typeface="Avenir Next"/>
              </a:rPr>
              <a:t>Kết luận nhanh: mắc kẹt ở H' - tư bản hàng hóa đã chứa giá trị thặng dư nhưng chưa chuyển hóa thành tiền.</a:t>
            </a:r>
          </a:p>
        </p:txBody>
      </p:sp>
      <p:sp>
        <p:nvSpPr>
          <p:cNvPr id="11" name="">
            <a:extLst xmlns:a="http://schemas.openxmlformats.org/drawingml/2006/main">
              <a:ext uri="{FF2B5EF4-FFF2-40B4-BE49-F238E27FC236}">
                <a16:creationId xmlns:a16="http://schemas.microsoft.com/office/drawing/2014/main" id="{29FF7D0A-D9CE-465A-9354-F109D8DA32B6}"/>
              </a:ext>
            </a:extLst>
          </p:cNvPr>
          <p:cNvSpPr>
            <a:spLocks xmlns:a="http://schemas.openxmlformats.org/drawingml/2006/main" noGrp="1"/>
          </p:cNvSpPr>
          <p:nvPr/>
        </p:nvSpPr>
        <p:spPr>
          <a:xfrm xmlns:a="http://schemas.openxmlformats.org/drawingml/2006/main">
            <a:off x="666750" y="5219700"/>
            <a:ext cx="9525" cy="53340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B186F49B-A383-4ABF-A80E-74F202DB8729}"/>
              </a:ext>
            </a:extLst>
          </p:cNvPr>
          <p:cNvSpPr>
            <a:spLocks xmlns:a="http://schemas.openxmlformats.org/drawingml/2006/main" noGrp="1"/>
          </p:cNvSpPr>
          <p:nvPr/>
        </p:nvSpPr>
        <p:spPr>
          <a:xfrm xmlns:a="http://schemas.openxmlformats.org/drawingml/2006/main">
            <a:off x="838200" y="5105400"/>
            <a:ext cx="176212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F1A14"/>
                </a:solidFill>
                <a:latin typeface="Georgia"/>
                <a:ea typeface="Georgia"/>
                <a:cs typeface="Georgia"/>
              </a:defRPr>
            </a:pPr>
            <a:r>
              <a:rPr sz="2025" b="1">
                <a:solidFill>
                  <a:srgbClr val="1F1A14"/>
                </a:solidFill>
                <a:latin typeface="Georgia"/>
                <a:ea typeface="Georgia"/>
                <a:cs typeface="Georgia"/>
              </a:rPr>
              <a:t>10.000 tỷ</a:t>
            </a:r>
          </a:p>
        </p:txBody>
      </p:sp>
      <p:sp>
        <p:nvSpPr>
          <p:cNvPr id="13" name="">
            <a:extLst xmlns:a="http://schemas.openxmlformats.org/drawingml/2006/main">
              <a:ext uri="{FF2B5EF4-FFF2-40B4-BE49-F238E27FC236}">
                <a16:creationId xmlns:a16="http://schemas.microsoft.com/office/drawing/2014/main" id="{3ACA88CA-EB90-4C58-939E-C9700FD9F9B2}"/>
              </a:ext>
            </a:extLst>
          </p:cNvPr>
          <p:cNvSpPr>
            <a:spLocks xmlns:a="http://schemas.openxmlformats.org/drawingml/2006/main" noGrp="1"/>
          </p:cNvSpPr>
          <p:nvPr/>
        </p:nvSpPr>
        <p:spPr>
          <a:xfrm xmlns:a="http://schemas.openxmlformats.org/drawingml/2006/main">
            <a:off x="838200" y="5505450"/>
            <a:ext cx="1762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5D4F"/>
                </a:solidFill>
                <a:latin typeface="Avenir Next"/>
                <a:ea typeface="Avenir Next"/>
                <a:cs typeface="Avenir Next"/>
              </a:defRPr>
            </a:pPr>
            <a:r>
              <a:rPr sz="750" b="1">
                <a:solidFill>
                  <a:srgbClr val="6A5D4F"/>
                </a:solidFill>
                <a:latin typeface="Avenir Next"/>
                <a:ea typeface="Avenir Next"/>
                <a:cs typeface="Avenir Next"/>
              </a:rPr>
              <a:t>vốn vay ngân hàng</a:t>
            </a:r>
          </a:p>
        </p:txBody>
      </p:sp>
      <p:sp>
        <p:nvSpPr>
          <p:cNvPr id="14" name="">
            <a:extLst xmlns:a="http://schemas.openxmlformats.org/drawingml/2006/main">
              <a:ext uri="{FF2B5EF4-FFF2-40B4-BE49-F238E27FC236}">
                <a16:creationId xmlns:a16="http://schemas.microsoft.com/office/drawing/2014/main" id="{059C6607-B114-4DBD-80A9-0C1FD54AF9BC}"/>
              </a:ext>
            </a:extLst>
          </p:cNvPr>
          <p:cNvSpPr>
            <a:spLocks xmlns:a="http://schemas.openxmlformats.org/drawingml/2006/main" noGrp="1"/>
          </p:cNvSpPr>
          <p:nvPr/>
        </p:nvSpPr>
        <p:spPr>
          <a:xfrm xmlns:a="http://schemas.openxmlformats.org/drawingml/2006/main">
            <a:off x="3028950" y="5219700"/>
            <a:ext cx="9525" cy="53340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85D11D9-D5C8-4B94-93A8-FD2F4A0F9FD1}"/>
              </a:ext>
            </a:extLst>
          </p:cNvPr>
          <p:cNvSpPr>
            <a:spLocks xmlns:a="http://schemas.openxmlformats.org/drawingml/2006/main" noGrp="1"/>
          </p:cNvSpPr>
          <p:nvPr/>
        </p:nvSpPr>
        <p:spPr>
          <a:xfrm xmlns:a="http://schemas.openxmlformats.org/drawingml/2006/main">
            <a:off x="3200400" y="5105400"/>
            <a:ext cx="176212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F1A14"/>
                </a:solidFill>
                <a:latin typeface="Georgia"/>
                <a:ea typeface="Georgia"/>
                <a:cs typeface="Georgia"/>
              </a:defRPr>
            </a:pPr>
            <a:r>
              <a:rPr sz="2025" b="1">
                <a:solidFill>
                  <a:srgbClr val="1F1A14"/>
                </a:solidFill>
                <a:latin typeface="Georgia"/>
                <a:ea typeface="Georgia"/>
                <a:cs typeface="Georgia"/>
              </a:rPr>
              <a:t>3 tòa tháp</a:t>
            </a:r>
          </a:p>
        </p:txBody>
      </p:sp>
      <p:sp>
        <p:nvSpPr>
          <p:cNvPr id="16" name="">
            <a:extLst xmlns:a="http://schemas.openxmlformats.org/drawingml/2006/main">
              <a:ext uri="{FF2B5EF4-FFF2-40B4-BE49-F238E27FC236}">
                <a16:creationId xmlns:a16="http://schemas.microsoft.com/office/drawing/2014/main" id="{69EAB4BA-195F-4DF5-A94F-89F60145035F}"/>
              </a:ext>
            </a:extLst>
          </p:cNvPr>
          <p:cNvSpPr>
            <a:spLocks xmlns:a="http://schemas.openxmlformats.org/drawingml/2006/main" noGrp="1"/>
          </p:cNvSpPr>
          <p:nvPr/>
        </p:nvSpPr>
        <p:spPr>
          <a:xfrm xmlns:a="http://schemas.openxmlformats.org/drawingml/2006/main">
            <a:off x="3200400" y="5505450"/>
            <a:ext cx="1762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5D4F"/>
                </a:solidFill>
                <a:latin typeface="Avenir Next"/>
                <a:ea typeface="Avenir Next"/>
                <a:cs typeface="Avenir Next"/>
              </a:defRPr>
            </a:pPr>
            <a:r>
              <a:rPr sz="750" b="1">
                <a:solidFill>
                  <a:srgbClr val="6A5D4F"/>
                </a:solidFill>
                <a:latin typeface="Avenir Next"/>
                <a:ea typeface="Avenir Next"/>
                <a:cs typeface="Avenir Next"/>
              </a:rPr>
              <a:t>xây xong phần thô</a:t>
            </a:r>
          </a:p>
        </p:txBody>
      </p:sp>
      <p:sp>
        <p:nvSpPr>
          <p:cNvPr id="17" name="">
            <a:extLst xmlns:a="http://schemas.openxmlformats.org/drawingml/2006/main">
              <a:ext uri="{FF2B5EF4-FFF2-40B4-BE49-F238E27FC236}">
                <a16:creationId xmlns:a16="http://schemas.microsoft.com/office/drawing/2014/main" id="{6002C736-C3EA-4366-B084-4A2D3A20E1D6}"/>
              </a:ext>
            </a:extLst>
          </p:cNvPr>
          <p:cNvSpPr>
            <a:spLocks xmlns:a="http://schemas.openxmlformats.org/drawingml/2006/main" noGrp="1"/>
          </p:cNvSpPr>
          <p:nvPr/>
        </p:nvSpPr>
        <p:spPr>
          <a:xfrm xmlns:a="http://schemas.openxmlformats.org/drawingml/2006/main">
            <a:off x="5391150" y="5219700"/>
            <a:ext cx="9525" cy="53340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03B1398-5F8C-4001-A6F7-BF49FE25031B}"/>
              </a:ext>
            </a:extLst>
          </p:cNvPr>
          <p:cNvSpPr>
            <a:spLocks xmlns:a="http://schemas.openxmlformats.org/drawingml/2006/main" noGrp="1"/>
          </p:cNvSpPr>
          <p:nvPr/>
        </p:nvSpPr>
        <p:spPr>
          <a:xfrm xmlns:a="http://schemas.openxmlformats.org/drawingml/2006/main">
            <a:off x="5562600" y="5105400"/>
            <a:ext cx="1762125"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F1A14"/>
                </a:solidFill>
                <a:latin typeface="Georgia"/>
                <a:ea typeface="Georgia"/>
                <a:cs typeface="Georgia"/>
              </a:defRPr>
            </a:pPr>
            <a:r>
              <a:rPr sz="2025" b="1">
                <a:solidFill>
                  <a:srgbClr val="1F1A14"/>
                </a:solidFill>
                <a:latin typeface="Georgia"/>
                <a:ea typeface="Georgia"/>
                <a:cs typeface="Georgia"/>
              </a:rPr>
              <a:t>H' → T'</a:t>
            </a:r>
          </a:p>
        </p:txBody>
      </p:sp>
      <p:sp>
        <p:nvSpPr>
          <p:cNvPr id="19" name="">
            <a:extLst xmlns:a="http://schemas.openxmlformats.org/drawingml/2006/main">
              <a:ext uri="{FF2B5EF4-FFF2-40B4-BE49-F238E27FC236}">
                <a16:creationId xmlns:a16="http://schemas.microsoft.com/office/drawing/2014/main" id="{B9254AE8-D0E8-4775-94A4-6315897D685A}"/>
              </a:ext>
            </a:extLst>
          </p:cNvPr>
          <p:cNvSpPr>
            <a:spLocks xmlns:a="http://schemas.openxmlformats.org/drawingml/2006/main" noGrp="1"/>
          </p:cNvSpPr>
          <p:nvPr/>
        </p:nvSpPr>
        <p:spPr>
          <a:xfrm xmlns:a="http://schemas.openxmlformats.org/drawingml/2006/main">
            <a:off x="5562600" y="5505450"/>
            <a:ext cx="1762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5D4F"/>
                </a:solidFill>
                <a:latin typeface="Avenir Next"/>
                <a:ea typeface="Avenir Next"/>
                <a:cs typeface="Avenir Next"/>
              </a:defRPr>
            </a:pPr>
            <a:r>
              <a:rPr sz="750" b="1">
                <a:solidFill>
                  <a:srgbClr val="6A5D4F"/>
                </a:solidFill>
                <a:latin typeface="Avenir Next"/>
                <a:ea typeface="Avenir Next"/>
                <a:cs typeface="Avenir Next"/>
              </a:rPr>
              <a:t>khâu bị nghẽn</a:t>
            </a:r>
          </a:p>
        </p:txBody>
      </p:sp>
      <p:sp>
        <p:nvSpPr>
          <p:cNvPr id="20" name="">
            <a:extLst xmlns:a="http://schemas.openxmlformats.org/drawingml/2006/main">
              <a:ext uri="{FF2B5EF4-FFF2-40B4-BE49-F238E27FC236}">
                <a16:creationId xmlns:a16="http://schemas.microsoft.com/office/drawing/2014/main" id="{786E9896-E171-4376-B1EB-0BB7070667FC}"/>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C66A5C2-37F6-4A52-A138-D7F2040F874D}"/>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Đề tài: Alpha Corp - phân tích bằng lý thuyết tuần hoàn tư bản của C. Mác</a:t>
            </a:r>
          </a:p>
        </p:txBody>
      </p:sp>
      <p:sp>
        <p:nvSpPr>
          <p:cNvPr id="22" name="">
            <a:extLst xmlns:a="http://schemas.openxmlformats.org/drawingml/2006/main">
              <a:ext uri="{FF2B5EF4-FFF2-40B4-BE49-F238E27FC236}">
                <a16:creationId xmlns:a16="http://schemas.microsoft.com/office/drawing/2014/main" id="{97C89A5A-AEB2-4F40-991A-2D57C984E207}"/>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01</a:t>
            </a:r>
          </a:p>
        </p:txBody>
      </p:sp>
    </p:spTree>
    <p:extLst>
      <p:ext uri="{BB962C8B-B14F-4D97-AF65-F5344CB8AC3E}">
        <p14:creationId xmlns:p14="http://schemas.microsoft.com/office/powerpoint/2010/main" val="18588007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DACEFE-19F5-4A40-94EF-E36322F44F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08F4840-650F-4ECC-BC7E-FB3A5EE5A58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DC0B9206-843F-44D6-A2CC-F9D87599FE10}"/>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AC04C31C-2D4E-4B93-8EE1-091605F8773A}"/>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TÌNH HUỐNG</a:t>
            </a:r>
          </a:p>
        </p:txBody>
      </p:sp>
      <p:sp>
        <p:nvSpPr>
          <p:cNvPr id="5" name="">
            <a:extLst xmlns:a="http://schemas.openxmlformats.org/drawingml/2006/main">
              <a:ext uri="{FF2B5EF4-FFF2-40B4-BE49-F238E27FC236}">
                <a16:creationId xmlns:a16="http://schemas.microsoft.com/office/drawing/2014/main" id="{6C82A060-C4B4-4E35-9E3C-C907E7065A10}"/>
              </a:ext>
            </a:extLst>
          </p:cNvPr>
          <p:cNvSpPr>
            <a:spLocks xmlns:a="http://schemas.openxmlformats.org/drawingml/2006/main" noGrp="1"/>
          </p:cNvSpPr>
          <p:nvPr/>
        </p:nvSpPr>
        <p:spPr>
          <a:xfrm xmlns:a="http://schemas.openxmlformats.org/drawingml/2006/main">
            <a:off x="552450" y="742950"/>
            <a:ext cx="7810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Ba tòa tháp hoàn thành, nhưng giá trị không quay về dưới dạng tiền.</a:t>
            </a:r>
          </a:p>
        </p:txBody>
      </p:sp>
      <p:sp>
        <p:nvSpPr>
          <p:cNvPr id="6" name="">
            <a:extLst xmlns:a="http://schemas.openxmlformats.org/drawingml/2006/main">
              <a:ext uri="{FF2B5EF4-FFF2-40B4-BE49-F238E27FC236}">
                <a16:creationId xmlns:a16="http://schemas.microsoft.com/office/drawing/2014/main" id="{4708D172-F42E-4977-9273-5D5EADBFAC28}"/>
              </a:ext>
            </a:extLst>
          </p:cNvPr>
          <p:cNvSpPr>
            <a:spLocks xmlns:a="http://schemas.openxmlformats.org/drawingml/2006/main" noGrp="1"/>
          </p:cNvSpPr>
          <p:nvPr/>
        </p:nvSpPr>
        <p:spPr>
          <a:xfrm xmlns:a="http://schemas.openxmlformats.org/drawingml/2006/main">
            <a:off x="571500" y="1790700"/>
            <a:ext cx="7239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A5D4F"/>
                </a:solidFill>
                <a:latin typeface="Avenir Next"/>
                <a:ea typeface="Avenir Next"/>
                <a:cs typeface="Avenir Next"/>
              </a:defRPr>
            </a:pPr>
            <a:r>
              <a:rPr sz="1125" b="0">
                <a:solidFill>
                  <a:srgbClr val="6A5D4F"/>
                </a:solidFill>
                <a:latin typeface="Avenir Next"/>
                <a:ea typeface="Avenir Next"/>
                <a:cs typeface="Avenir Next"/>
              </a:rPr>
              <a:t>Alpha Corp không thiếu tài sản trên sổ sách. Vấn đề là tài sản ấy chưa được thị trường thừa nhận bằng hành vi mua bán.</a:t>
            </a:r>
          </a:p>
        </p:txBody>
      </p:sp>
      <p:sp>
        <p:nvSpPr>
          <p:cNvPr id="7" name="">
            <a:extLst xmlns:a="http://schemas.openxmlformats.org/drawingml/2006/main">
              <a:ext uri="{FF2B5EF4-FFF2-40B4-BE49-F238E27FC236}">
                <a16:creationId xmlns:a16="http://schemas.microsoft.com/office/drawing/2014/main" id="{71308CCC-0918-4D9F-B51C-620059294FE2}"/>
              </a:ext>
            </a:extLst>
          </p:cNvPr>
          <p:cNvSpPr>
            <a:spLocks xmlns:a="http://schemas.openxmlformats.org/drawingml/2006/main" noGrp="1"/>
          </p:cNvSpPr>
          <p:nvPr/>
        </p:nvSpPr>
        <p:spPr>
          <a:xfrm xmlns:a="http://schemas.openxmlformats.org/drawingml/2006/main">
            <a:off x="800100" y="2647950"/>
            <a:ext cx="1314450" cy="457200"/>
          </a:xfrm>
          <a:prstGeom xmlns:a="http://schemas.openxmlformats.org/drawingml/2006/main" prst="rect">
            <a:avLst/>
          </a:prstGeom>
          <a:solidFill xmlns:a="http://schemas.openxmlformats.org/drawingml/2006/main">
            <a:srgbClr val="CFE4E1"/>
          </a:solidFill>
          <a:ln xmlns:a="http://schemas.openxmlformats.org/drawingml/2006/main" w="9525">
            <a:solidFill>
              <a:srgbClr val="1F7A75"/>
            </a:solidFill>
            <a:prstDash val="solid"/>
          </a:ln>
        </p:spPr>
      </p:sp>
      <p:sp>
        <p:nvSpPr>
          <p:cNvPr id="8" name="">
            <a:extLst xmlns:a="http://schemas.openxmlformats.org/drawingml/2006/main">
              <a:ext uri="{FF2B5EF4-FFF2-40B4-BE49-F238E27FC236}">
                <a16:creationId xmlns:a16="http://schemas.microsoft.com/office/drawing/2014/main" id="{2FB1E1D1-2D12-4FA6-83B7-BB4FEB7889CF}"/>
              </a:ext>
            </a:extLst>
          </p:cNvPr>
          <p:cNvSpPr>
            <a:spLocks xmlns:a="http://schemas.openxmlformats.org/drawingml/2006/main" noGrp="1"/>
          </p:cNvSpPr>
          <p:nvPr/>
        </p:nvSpPr>
        <p:spPr>
          <a:xfrm xmlns:a="http://schemas.openxmlformats.org/drawingml/2006/main">
            <a:off x="933450" y="278130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Giai đoạn 1</a:t>
            </a:r>
          </a:p>
        </p:txBody>
      </p:sp>
      <p:sp>
        <p:nvSpPr>
          <p:cNvPr id="9" name="">
            <a:extLst xmlns:a="http://schemas.openxmlformats.org/drawingml/2006/main">
              <a:ext uri="{FF2B5EF4-FFF2-40B4-BE49-F238E27FC236}">
                <a16:creationId xmlns:a16="http://schemas.microsoft.com/office/drawing/2014/main" id="{28E3FABF-9BBB-4E23-A019-667898E19EBA}"/>
              </a:ext>
            </a:extLst>
          </p:cNvPr>
          <p:cNvSpPr>
            <a:spLocks xmlns:a="http://schemas.openxmlformats.org/drawingml/2006/main" noGrp="1"/>
          </p:cNvSpPr>
          <p:nvPr/>
        </p:nvSpPr>
        <p:spPr>
          <a:xfrm xmlns:a="http://schemas.openxmlformats.org/drawingml/2006/main">
            <a:off x="2362200" y="2876550"/>
            <a:ext cx="6191250" cy="1905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BFC5962-26E0-4AEB-82FF-7ED9AF91BADD}"/>
              </a:ext>
            </a:extLst>
          </p:cNvPr>
          <p:cNvSpPr>
            <a:spLocks xmlns:a="http://schemas.openxmlformats.org/drawingml/2006/main" noGrp="1"/>
          </p:cNvSpPr>
          <p:nvPr/>
        </p:nvSpPr>
        <p:spPr>
          <a:xfrm xmlns:a="http://schemas.openxmlformats.org/drawingml/2006/main">
            <a:off x="2647950" y="2705100"/>
            <a:ext cx="542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1A14"/>
                </a:solidFill>
                <a:latin typeface="Avenir Next"/>
                <a:ea typeface="Avenir Next"/>
                <a:cs typeface="Avenir Next"/>
              </a:defRPr>
            </a:pPr>
            <a:r>
              <a:rPr sz="1200" b="0">
                <a:solidFill>
                  <a:srgbClr val="1F1A14"/>
                </a:solidFill>
                <a:latin typeface="Avenir Next"/>
                <a:ea typeface="Avenir Next"/>
                <a:cs typeface="Avenir Next"/>
              </a:rPr>
              <a:t>Mua đất, thuê tư vấn thiết kế, thuê công nhân</a:t>
            </a:r>
          </a:p>
        </p:txBody>
      </p:sp>
      <p:sp>
        <p:nvSpPr>
          <p:cNvPr id="11" name="">
            <a:extLst xmlns:a="http://schemas.openxmlformats.org/drawingml/2006/main">
              <a:ext uri="{FF2B5EF4-FFF2-40B4-BE49-F238E27FC236}">
                <a16:creationId xmlns:a16="http://schemas.microsoft.com/office/drawing/2014/main" id="{AF4A31B7-ED26-4FDC-B388-6734CD7019D3}"/>
              </a:ext>
            </a:extLst>
          </p:cNvPr>
          <p:cNvSpPr>
            <a:spLocks xmlns:a="http://schemas.openxmlformats.org/drawingml/2006/main" noGrp="1"/>
          </p:cNvSpPr>
          <p:nvPr/>
        </p:nvSpPr>
        <p:spPr>
          <a:xfrm xmlns:a="http://schemas.openxmlformats.org/drawingml/2006/main">
            <a:off x="800100" y="3429000"/>
            <a:ext cx="1314450" cy="457200"/>
          </a:xfrm>
          <a:prstGeom xmlns:a="http://schemas.openxmlformats.org/drawingml/2006/main" prst="rect">
            <a:avLst/>
          </a:prstGeom>
          <a:solidFill xmlns:a="http://schemas.openxmlformats.org/drawingml/2006/main">
            <a:srgbClr val="EBD3C3"/>
          </a:solidFill>
          <a:ln xmlns:a="http://schemas.openxmlformats.org/drawingml/2006/main" w="9525">
            <a:solidFill>
              <a:srgbClr val="B75D32"/>
            </a:solidFill>
            <a:prstDash val="solid"/>
          </a:ln>
        </p:spPr>
      </p:sp>
      <p:sp>
        <p:nvSpPr>
          <p:cNvPr id="12" name="">
            <a:extLst xmlns:a="http://schemas.openxmlformats.org/drawingml/2006/main">
              <a:ext uri="{FF2B5EF4-FFF2-40B4-BE49-F238E27FC236}">
                <a16:creationId xmlns:a16="http://schemas.microsoft.com/office/drawing/2014/main" id="{4846E378-6DFB-492D-80B3-9B90BBCE0D6F}"/>
              </a:ext>
            </a:extLst>
          </p:cNvPr>
          <p:cNvSpPr>
            <a:spLocks xmlns:a="http://schemas.openxmlformats.org/drawingml/2006/main" noGrp="1"/>
          </p:cNvSpPr>
          <p:nvPr/>
        </p:nvSpPr>
        <p:spPr>
          <a:xfrm xmlns:a="http://schemas.openxmlformats.org/drawingml/2006/main">
            <a:off x="933450" y="356235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Giai đoạn 2</a:t>
            </a:r>
          </a:p>
        </p:txBody>
      </p:sp>
      <p:sp>
        <p:nvSpPr>
          <p:cNvPr id="13" name="">
            <a:extLst xmlns:a="http://schemas.openxmlformats.org/drawingml/2006/main">
              <a:ext uri="{FF2B5EF4-FFF2-40B4-BE49-F238E27FC236}">
                <a16:creationId xmlns:a16="http://schemas.microsoft.com/office/drawing/2014/main" id="{7AC94E88-1C96-4DC4-9F3F-DED77E92921C}"/>
              </a:ext>
            </a:extLst>
          </p:cNvPr>
          <p:cNvSpPr>
            <a:spLocks xmlns:a="http://schemas.openxmlformats.org/drawingml/2006/main" noGrp="1"/>
          </p:cNvSpPr>
          <p:nvPr/>
        </p:nvSpPr>
        <p:spPr>
          <a:xfrm xmlns:a="http://schemas.openxmlformats.org/drawingml/2006/main">
            <a:off x="2362200" y="3657600"/>
            <a:ext cx="6191250" cy="190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48C7864-D8AB-4FB1-B6C7-8167336B3562}"/>
              </a:ext>
            </a:extLst>
          </p:cNvPr>
          <p:cNvSpPr>
            <a:spLocks xmlns:a="http://schemas.openxmlformats.org/drawingml/2006/main" noGrp="1"/>
          </p:cNvSpPr>
          <p:nvPr/>
        </p:nvSpPr>
        <p:spPr>
          <a:xfrm xmlns:a="http://schemas.openxmlformats.org/drawingml/2006/main">
            <a:off x="2647950" y="3486150"/>
            <a:ext cx="542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1A14"/>
                </a:solidFill>
                <a:latin typeface="Avenir Next"/>
                <a:ea typeface="Avenir Next"/>
                <a:cs typeface="Avenir Next"/>
              </a:defRPr>
            </a:pPr>
            <a:r>
              <a:rPr sz="1200" b="0">
                <a:solidFill>
                  <a:srgbClr val="1F1A14"/>
                </a:solidFill>
                <a:latin typeface="Avenir Next"/>
                <a:ea typeface="Avenir Next"/>
                <a:cs typeface="Avenir Next"/>
              </a:rPr>
              <a:t>Xây xong phần thô của 3 tòa tháp</a:t>
            </a:r>
          </a:p>
        </p:txBody>
      </p:sp>
      <p:sp>
        <p:nvSpPr>
          <p:cNvPr id="15" name="">
            <a:extLst xmlns:a="http://schemas.openxmlformats.org/drawingml/2006/main">
              <a:ext uri="{FF2B5EF4-FFF2-40B4-BE49-F238E27FC236}">
                <a16:creationId xmlns:a16="http://schemas.microsoft.com/office/drawing/2014/main" id="{9F7C999D-7099-4BFC-876C-E9C00ED56A33}"/>
              </a:ext>
            </a:extLst>
          </p:cNvPr>
          <p:cNvSpPr>
            <a:spLocks xmlns:a="http://schemas.openxmlformats.org/drawingml/2006/main" noGrp="1"/>
          </p:cNvSpPr>
          <p:nvPr/>
        </p:nvSpPr>
        <p:spPr>
          <a:xfrm xmlns:a="http://schemas.openxmlformats.org/drawingml/2006/main">
            <a:off x="800100" y="4210050"/>
            <a:ext cx="1314450" cy="457200"/>
          </a:xfrm>
          <a:prstGeom xmlns:a="http://schemas.openxmlformats.org/drawingml/2006/main" prst="rect">
            <a:avLst/>
          </a:prstGeom>
          <a:solidFill xmlns:a="http://schemas.openxmlformats.org/drawingml/2006/main">
            <a:srgbClr val="EFE0AD"/>
          </a:solidFill>
          <a:ln xmlns:a="http://schemas.openxmlformats.org/drawingml/2006/main" w="9525">
            <a:solidFill>
              <a:srgbClr val="D6A53A"/>
            </a:solidFill>
            <a:prstDash val="solid"/>
          </a:ln>
        </p:spPr>
      </p:sp>
      <p:sp>
        <p:nvSpPr>
          <p:cNvPr id="16" name="">
            <a:extLst xmlns:a="http://schemas.openxmlformats.org/drawingml/2006/main">
              <a:ext uri="{FF2B5EF4-FFF2-40B4-BE49-F238E27FC236}">
                <a16:creationId xmlns:a16="http://schemas.microsoft.com/office/drawing/2014/main" id="{1D271059-82C7-406F-BBBA-E8854A10E4F2}"/>
              </a:ext>
            </a:extLst>
          </p:cNvPr>
          <p:cNvSpPr>
            <a:spLocks xmlns:a="http://schemas.openxmlformats.org/drawingml/2006/main" noGrp="1"/>
          </p:cNvSpPr>
          <p:nvPr/>
        </p:nvSpPr>
        <p:spPr>
          <a:xfrm xmlns:a="http://schemas.openxmlformats.org/drawingml/2006/main">
            <a:off x="933450" y="434340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Cú sốc thị trường</a:t>
            </a:r>
          </a:p>
        </p:txBody>
      </p:sp>
      <p:sp>
        <p:nvSpPr>
          <p:cNvPr id="17" name="">
            <a:extLst xmlns:a="http://schemas.openxmlformats.org/drawingml/2006/main">
              <a:ext uri="{FF2B5EF4-FFF2-40B4-BE49-F238E27FC236}">
                <a16:creationId xmlns:a16="http://schemas.microsoft.com/office/drawing/2014/main" id="{87DFB0FD-CDEA-4DFB-95AF-29476963CEF4}"/>
              </a:ext>
            </a:extLst>
          </p:cNvPr>
          <p:cNvSpPr>
            <a:spLocks xmlns:a="http://schemas.openxmlformats.org/drawingml/2006/main" noGrp="1"/>
          </p:cNvSpPr>
          <p:nvPr/>
        </p:nvSpPr>
        <p:spPr>
          <a:xfrm xmlns:a="http://schemas.openxmlformats.org/drawingml/2006/main">
            <a:off x="2362200" y="4438650"/>
            <a:ext cx="6191250" cy="190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865BC38-359F-4B1B-ADF2-2B267CDDA6FC}"/>
              </a:ext>
            </a:extLst>
          </p:cNvPr>
          <p:cNvSpPr>
            <a:spLocks xmlns:a="http://schemas.openxmlformats.org/drawingml/2006/main" noGrp="1"/>
          </p:cNvSpPr>
          <p:nvPr/>
        </p:nvSpPr>
        <p:spPr>
          <a:xfrm xmlns:a="http://schemas.openxmlformats.org/drawingml/2006/main">
            <a:off x="2647950" y="4267200"/>
            <a:ext cx="542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F1A14"/>
                </a:solidFill>
                <a:latin typeface="Avenir Next"/>
                <a:ea typeface="Avenir Next"/>
                <a:cs typeface="Avenir Next"/>
              </a:defRPr>
            </a:pPr>
            <a:r>
              <a:rPr sz="1200" b="0">
                <a:solidFill>
                  <a:srgbClr val="1F1A14"/>
                </a:solidFill>
                <a:latin typeface="Avenir Next"/>
                <a:ea typeface="Avenir Next"/>
                <a:cs typeface="Avenir Next"/>
              </a:rPr>
              <a:t>Siết tín dụng, lãi suất tăng; người dân thiếu tiền mua nhà</a:t>
            </a:r>
          </a:p>
        </p:txBody>
      </p:sp>
      <p:sp>
        <p:nvSpPr>
          <p:cNvPr id="19" name="">
            <a:extLst xmlns:a="http://schemas.openxmlformats.org/drawingml/2006/main">
              <a:ext uri="{FF2B5EF4-FFF2-40B4-BE49-F238E27FC236}">
                <a16:creationId xmlns:a16="http://schemas.microsoft.com/office/drawing/2014/main" id="{26FF5E37-481F-4634-A0D5-6387B0172EC4}"/>
              </a:ext>
            </a:extLst>
          </p:cNvPr>
          <p:cNvSpPr>
            <a:spLocks xmlns:a="http://schemas.openxmlformats.org/drawingml/2006/main" noGrp="1"/>
          </p:cNvSpPr>
          <p:nvPr/>
        </p:nvSpPr>
        <p:spPr>
          <a:xfrm xmlns:a="http://schemas.openxmlformats.org/drawingml/2006/main">
            <a:off x="800100" y="4991100"/>
            <a:ext cx="1314450" cy="457200"/>
          </a:xfrm>
          <a:prstGeom xmlns:a="http://schemas.openxmlformats.org/drawingml/2006/main" prst="rect">
            <a:avLst/>
          </a:prstGeom>
          <a:solidFill xmlns:a="http://schemas.openxmlformats.org/drawingml/2006/main">
            <a:srgbClr val="E8C0B7"/>
          </a:solidFill>
          <a:ln xmlns:a="http://schemas.openxmlformats.org/drawingml/2006/main" w="9525">
            <a:solidFill>
              <a:srgbClr val="8E2D22"/>
            </a:solidFill>
            <a:prstDash val="solid"/>
          </a:ln>
        </p:spPr>
      </p:sp>
      <p:sp>
        <p:nvSpPr>
          <p:cNvPr id="20" name="">
            <a:extLst xmlns:a="http://schemas.openxmlformats.org/drawingml/2006/main">
              <a:ext uri="{FF2B5EF4-FFF2-40B4-BE49-F238E27FC236}">
                <a16:creationId xmlns:a16="http://schemas.microsoft.com/office/drawing/2014/main" id="{978016F3-9351-4B0A-B81F-2B69C004777E}"/>
              </a:ext>
            </a:extLst>
          </p:cNvPr>
          <p:cNvSpPr>
            <a:spLocks xmlns:a="http://schemas.openxmlformats.org/drawingml/2006/main" noGrp="1"/>
          </p:cNvSpPr>
          <p:nvPr/>
        </p:nvSpPr>
        <p:spPr>
          <a:xfrm xmlns:a="http://schemas.openxmlformats.org/drawingml/2006/main">
            <a:off x="933450" y="5124450"/>
            <a:ext cx="1047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Hệ quả</a:t>
            </a:r>
          </a:p>
        </p:txBody>
      </p:sp>
      <p:sp>
        <p:nvSpPr>
          <p:cNvPr id="21" name="">
            <a:extLst xmlns:a="http://schemas.openxmlformats.org/drawingml/2006/main">
              <a:ext uri="{FF2B5EF4-FFF2-40B4-BE49-F238E27FC236}">
                <a16:creationId xmlns:a16="http://schemas.microsoft.com/office/drawing/2014/main" id="{BCC69E12-3002-472B-9D7E-43FA40E77FE0}"/>
              </a:ext>
            </a:extLst>
          </p:cNvPr>
          <p:cNvSpPr>
            <a:spLocks xmlns:a="http://schemas.openxmlformats.org/drawingml/2006/main" noGrp="1"/>
          </p:cNvSpPr>
          <p:nvPr/>
        </p:nvSpPr>
        <p:spPr>
          <a:xfrm xmlns:a="http://schemas.openxmlformats.org/drawingml/2006/main">
            <a:off x="2362200" y="5219700"/>
            <a:ext cx="6191250" cy="190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B6BD3DD-A074-46D4-B7C0-3A65318E9542}"/>
              </a:ext>
            </a:extLst>
          </p:cNvPr>
          <p:cNvSpPr>
            <a:spLocks xmlns:a="http://schemas.openxmlformats.org/drawingml/2006/main" noGrp="1"/>
          </p:cNvSpPr>
          <p:nvPr/>
        </p:nvSpPr>
        <p:spPr>
          <a:xfrm xmlns:a="http://schemas.openxmlformats.org/drawingml/2006/main">
            <a:off x="2647950" y="5048250"/>
            <a:ext cx="5429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8E2D22"/>
                </a:solidFill>
                <a:latin typeface="Avenir Next"/>
                <a:ea typeface="Avenir Next"/>
                <a:cs typeface="Avenir Next"/>
              </a:defRPr>
            </a:pPr>
            <a:r>
              <a:rPr sz="1200" b="1">
                <a:solidFill>
                  <a:srgbClr val="8E2D22"/>
                </a:solidFill>
                <a:latin typeface="Avenir Next"/>
                <a:ea typeface="Avenir Next"/>
                <a:cs typeface="Avenir Next"/>
              </a:rPr>
              <a:t>Không bán được nhà; không trả nợ, không trả nhà cung cấp và lương</a:t>
            </a:r>
          </a:p>
        </p:txBody>
      </p:sp>
      <p:sp>
        <p:nvSpPr>
          <p:cNvPr id="23" name="">
            <a:extLst xmlns:a="http://schemas.openxmlformats.org/drawingml/2006/main">
              <a:ext uri="{FF2B5EF4-FFF2-40B4-BE49-F238E27FC236}">
                <a16:creationId xmlns:a16="http://schemas.microsoft.com/office/drawing/2014/main" id="{E8902BCA-5398-4FDC-8F9F-DE48079D7DF0}"/>
              </a:ext>
            </a:extLst>
          </p:cNvPr>
          <p:cNvSpPr>
            <a:spLocks xmlns:a="http://schemas.openxmlformats.org/drawingml/2006/main" noGrp="1"/>
          </p:cNvSpPr>
          <p:nvPr/>
        </p:nvSpPr>
        <p:spPr>
          <a:xfrm xmlns:a="http://schemas.openxmlformats.org/drawingml/2006/main">
            <a:off x="8858250" y="2419350"/>
            <a:ext cx="2190750" cy="24765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1C8B51D-12A0-4B0D-88F1-2E0864371768}"/>
              </a:ext>
            </a:extLst>
          </p:cNvPr>
          <p:cNvSpPr>
            <a:spLocks xmlns:a="http://schemas.openxmlformats.org/drawingml/2006/main" noGrp="1"/>
          </p:cNvSpPr>
          <p:nvPr/>
        </p:nvSpPr>
        <p:spPr>
          <a:xfrm xmlns:a="http://schemas.openxmlformats.org/drawingml/2006/main">
            <a:off x="9105900" y="27241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E8D8C5"/>
                </a:solidFill>
                <a:latin typeface="Avenir Next"/>
                <a:ea typeface="Avenir Next"/>
                <a:cs typeface="Avenir Next"/>
              </a:defRPr>
            </a:pPr>
            <a:r>
              <a:rPr sz="975" b="1">
                <a:solidFill>
                  <a:srgbClr val="E8D8C5"/>
                </a:solidFill>
                <a:latin typeface="Avenir Next"/>
                <a:ea typeface="Avenir Next"/>
                <a:cs typeface="Avenir Next"/>
              </a:rPr>
              <a:t>Điểm then chốt</a:t>
            </a:r>
          </a:p>
        </p:txBody>
      </p:sp>
      <p:sp>
        <p:nvSpPr>
          <p:cNvPr id="25" name="">
            <a:extLst xmlns:a="http://schemas.openxmlformats.org/drawingml/2006/main">
              <a:ext uri="{FF2B5EF4-FFF2-40B4-BE49-F238E27FC236}">
                <a16:creationId xmlns:a16="http://schemas.microsoft.com/office/drawing/2014/main" id="{F2152614-9D12-4CB3-B034-BAFFCF27FDAD}"/>
              </a:ext>
            </a:extLst>
          </p:cNvPr>
          <p:cNvSpPr>
            <a:spLocks xmlns:a="http://schemas.openxmlformats.org/drawingml/2006/main" noGrp="1"/>
          </p:cNvSpPr>
          <p:nvPr/>
        </p:nvSpPr>
        <p:spPr>
          <a:xfrm xmlns:a="http://schemas.openxmlformats.org/drawingml/2006/main">
            <a:off x="9029700" y="3086100"/>
            <a:ext cx="18669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FFFFFF"/>
                </a:solidFill>
                <a:latin typeface="Georgia"/>
                <a:ea typeface="Georgia"/>
                <a:cs typeface="Georgia"/>
              </a:defRPr>
            </a:pPr>
            <a:r>
              <a:rPr sz="1163" b="1">
                <a:solidFill>
                  <a:srgbClr val="FFFFFF"/>
                </a:solidFill>
                <a:latin typeface="Georgia"/>
                <a:ea typeface="Georgia"/>
                <a:cs typeface="Georgia"/>
              </a:rPr>
              <a:t>Hàng hóa bất động sản có thể mang giá trị rất lớn, nhưng nếu không bán được thì tư bản không thể tiếp tục vận động.</a:t>
            </a:r>
          </a:p>
        </p:txBody>
      </p:sp>
      <p:sp>
        <p:nvSpPr>
          <p:cNvPr id="26" name="">
            <a:extLst xmlns:a="http://schemas.openxmlformats.org/drawingml/2006/main">
              <a:ext uri="{FF2B5EF4-FFF2-40B4-BE49-F238E27FC236}">
                <a16:creationId xmlns:a16="http://schemas.microsoft.com/office/drawing/2014/main" id="{5B1A6D36-74E2-4D41-94E5-7347041371F0}"/>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F0EBD3A-CD3F-4580-B363-2CC68101F7CE}"/>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Nguồn: tình huống Alpha Corp giả định trong đề bài</a:t>
            </a:r>
          </a:p>
        </p:txBody>
      </p:sp>
      <p:sp>
        <p:nvSpPr>
          <p:cNvPr id="28" name="">
            <a:extLst xmlns:a="http://schemas.openxmlformats.org/drawingml/2006/main">
              <a:ext uri="{FF2B5EF4-FFF2-40B4-BE49-F238E27FC236}">
                <a16:creationId xmlns:a16="http://schemas.microsoft.com/office/drawing/2014/main" id="{C941A91F-2AD7-42F2-990C-05982D9DC6B5}"/>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02</a:t>
            </a:r>
          </a:p>
        </p:txBody>
      </p:sp>
    </p:spTree>
    <p:extLst>
      <p:ext uri="{BB962C8B-B14F-4D97-AF65-F5344CB8AC3E}">
        <p14:creationId xmlns:p14="http://schemas.microsoft.com/office/powerpoint/2010/main" val="10176946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14411F-63E9-410A-9E29-5A482D005D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07F17F5-6DC8-488C-99B2-74762459F1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491CDC36-3D22-44B6-84A8-5960C7806A28}"/>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93C54BAE-47E7-449D-BAF2-FB3FA641CF35}"/>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KHUNG LÝ THUYẾT</a:t>
            </a:r>
          </a:p>
        </p:txBody>
      </p:sp>
      <p:sp>
        <p:nvSpPr>
          <p:cNvPr id="5" name="">
            <a:extLst xmlns:a="http://schemas.openxmlformats.org/drawingml/2006/main">
              <a:ext uri="{FF2B5EF4-FFF2-40B4-BE49-F238E27FC236}">
                <a16:creationId xmlns:a16="http://schemas.microsoft.com/office/drawing/2014/main" id="{EA060970-E298-4E12-A417-812D67A199F0}"/>
              </a:ext>
            </a:extLst>
          </p:cNvPr>
          <p:cNvSpPr>
            <a:spLocks xmlns:a="http://schemas.openxmlformats.org/drawingml/2006/main" noGrp="1"/>
          </p:cNvSpPr>
          <p:nvPr/>
        </p:nvSpPr>
        <p:spPr>
          <a:xfrm xmlns:a="http://schemas.openxmlformats.org/drawingml/2006/main">
            <a:off x="552450" y="742950"/>
            <a:ext cx="7810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Tuần hoàn tư bản là quá trình giá trị liên tục đổi hình thái.</a:t>
            </a:r>
          </a:p>
        </p:txBody>
      </p:sp>
      <p:sp>
        <p:nvSpPr>
          <p:cNvPr id="6" name="">
            <a:extLst xmlns:a="http://schemas.openxmlformats.org/drawingml/2006/main">
              <a:ext uri="{FF2B5EF4-FFF2-40B4-BE49-F238E27FC236}">
                <a16:creationId xmlns:a16="http://schemas.microsoft.com/office/drawing/2014/main" id="{B8D835C0-C8AB-4073-99AF-DA064789C34C}"/>
              </a:ext>
            </a:extLst>
          </p:cNvPr>
          <p:cNvSpPr>
            <a:spLocks xmlns:a="http://schemas.openxmlformats.org/drawingml/2006/main" noGrp="1"/>
          </p:cNvSpPr>
          <p:nvPr/>
        </p:nvSpPr>
        <p:spPr>
          <a:xfrm xmlns:a="http://schemas.openxmlformats.org/drawingml/2006/main">
            <a:off x="571500" y="1714500"/>
            <a:ext cx="7620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A5D4F"/>
                </a:solidFill>
                <a:latin typeface="Avenir Next"/>
                <a:ea typeface="Avenir Next"/>
                <a:cs typeface="Avenir Next"/>
              </a:defRPr>
            </a:pPr>
            <a:r>
              <a:rPr sz="1125" b="0">
                <a:solidFill>
                  <a:srgbClr val="6A5D4F"/>
                </a:solidFill>
                <a:latin typeface="Avenir Next"/>
                <a:ea typeface="Avenir Next"/>
                <a:cs typeface="Avenir Next"/>
              </a:rPr>
              <a:t>Công thức giản lược: T - H ... SX ... H' - T'. Mỗi ký hiệu không chỉ là một bước, mà là một hình thái tồn tại của tư bản.</a:t>
            </a:r>
          </a:p>
        </p:txBody>
      </p:sp>
      <p:sp>
        <p:nvSpPr>
          <p:cNvPr id="7" name="">
            <a:extLst xmlns:a="http://schemas.openxmlformats.org/drawingml/2006/main">
              <a:ext uri="{FF2B5EF4-FFF2-40B4-BE49-F238E27FC236}">
                <a16:creationId xmlns:a16="http://schemas.microsoft.com/office/drawing/2014/main" id="{8A40BA6D-07D5-42F2-9059-1E6D8E2FF78D}"/>
              </a:ext>
            </a:extLst>
          </p:cNvPr>
          <p:cNvSpPr>
            <a:spLocks xmlns:a="http://schemas.openxmlformats.org/drawingml/2006/main" noGrp="1"/>
          </p:cNvSpPr>
          <p:nvPr/>
        </p:nvSpPr>
        <p:spPr>
          <a:xfrm xmlns:a="http://schemas.openxmlformats.org/drawingml/2006/main">
            <a:off x="781050" y="2686050"/>
            <a:ext cx="1295400" cy="1257300"/>
          </a:xfrm>
          <a:prstGeom xmlns:a="http://schemas.openxmlformats.org/drawingml/2006/main" prst="rect">
            <a:avLst/>
          </a:prstGeom>
          <a:solidFill xmlns:a="http://schemas.openxmlformats.org/drawingml/2006/main">
            <a:srgbClr val="FFF8E6"/>
          </a:solidFill>
          <a:ln xmlns:a="http://schemas.openxmlformats.org/drawingml/2006/main" w="19050">
            <a:solidFill>
              <a:srgbClr val="1F7A75"/>
            </a:solidFill>
            <a:prstDash val="solid"/>
          </a:ln>
        </p:spPr>
      </p:sp>
      <p:sp>
        <p:nvSpPr>
          <p:cNvPr id="8" name="">
            <a:extLst xmlns:a="http://schemas.openxmlformats.org/drawingml/2006/main">
              <a:ext uri="{FF2B5EF4-FFF2-40B4-BE49-F238E27FC236}">
                <a16:creationId xmlns:a16="http://schemas.microsoft.com/office/drawing/2014/main" id="{E859702E-C478-4E59-8BD6-55BB09D28FC2}"/>
              </a:ext>
            </a:extLst>
          </p:cNvPr>
          <p:cNvSpPr>
            <a:spLocks xmlns:a="http://schemas.openxmlformats.org/drawingml/2006/main" noGrp="1"/>
          </p:cNvSpPr>
          <p:nvPr/>
        </p:nvSpPr>
        <p:spPr>
          <a:xfrm xmlns:a="http://schemas.openxmlformats.org/drawingml/2006/main">
            <a:off x="781050" y="2838450"/>
            <a:ext cx="1295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1F7A75"/>
                </a:solidFill>
                <a:latin typeface="Georgia"/>
                <a:ea typeface="Georgia"/>
                <a:cs typeface="Georgia"/>
              </a:defRPr>
            </a:pPr>
            <a:r>
              <a:rPr sz="2250" b="1">
                <a:solidFill>
                  <a:srgbClr val="1F7A75"/>
                </a:solidFill>
                <a:latin typeface="Georgia"/>
                <a:ea typeface="Georgia"/>
                <a:cs typeface="Georgia"/>
              </a:rPr>
              <a:t>T</a:t>
            </a:r>
          </a:p>
        </p:txBody>
      </p:sp>
      <p:sp>
        <p:nvSpPr>
          <p:cNvPr id="9" name="">
            <a:extLst xmlns:a="http://schemas.openxmlformats.org/drawingml/2006/main">
              <a:ext uri="{FF2B5EF4-FFF2-40B4-BE49-F238E27FC236}">
                <a16:creationId xmlns:a16="http://schemas.microsoft.com/office/drawing/2014/main" id="{4E2A6AF0-68E1-475D-909D-897BECB2686F}"/>
              </a:ext>
            </a:extLst>
          </p:cNvPr>
          <p:cNvSpPr>
            <a:spLocks xmlns:a="http://schemas.openxmlformats.org/drawingml/2006/main" noGrp="1"/>
          </p:cNvSpPr>
          <p:nvPr/>
        </p:nvSpPr>
        <p:spPr>
          <a:xfrm xmlns:a="http://schemas.openxmlformats.org/drawingml/2006/main">
            <a:off x="876300" y="331470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Tiền tệ</a:t>
            </a:r>
          </a:p>
        </p:txBody>
      </p:sp>
      <p:sp>
        <p:nvSpPr>
          <p:cNvPr id="10" name="">
            <a:extLst xmlns:a="http://schemas.openxmlformats.org/drawingml/2006/main">
              <a:ext uri="{FF2B5EF4-FFF2-40B4-BE49-F238E27FC236}">
                <a16:creationId xmlns:a16="http://schemas.microsoft.com/office/drawing/2014/main" id="{96515388-51B7-4CF1-ABA8-067D6B244D43}"/>
              </a:ext>
            </a:extLst>
          </p:cNvPr>
          <p:cNvSpPr>
            <a:spLocks xmlns:a="http://schemas.openxmlformats.org/drawingml/2006/main" noGrp="1"/>
          </p:cNvSpPr>
          <p:nvPr/>
        </p:nvSpPr>
        <p:spPr>
          <a:xfrm xmlns:a="http://schemas.openxmlformats.org/drawingml/2006/main">
            <a:off x="895350" y="35623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mua tư liệu sản xuất và sức lao động</a:t>
            </a:r>
          </a:p>
        </p:txBody>
      </p:sp>
      <p:sp>
        <p:nvSpPr>
          <p:cNvPr id="11" name="">
            <a:extLst xmlns:a="http://schemas.openxmlformats.org/drawingml/2006/main">
              <a:ext uri="{FF2B5EF4-FFF2-40B4-BE49-F238E27FC236}">
                <a16:creationId xmlns:a16="http://schemas.microsoft.com/office/drawing/2014/main" id="{D8161031-AC72-453D-8E02-D1707B919DB0}"/>
              </a:ext>
            </a:extLst>
          </p:cNvPr>
          <p:cNvSpPr>
            <a:spLocks xmlns:a="http://schemas.openxmlformats.org/drawingml/2006/main" noGrp="1"/>
          </p:cNvSpPr>
          <p:nvPr/>
        </p:nvSpPr>
        <p:spPr>
          <a:xfrm xmlns:a="http://schemas.openxmlformats.org/drawingml/2006/main">
            <a:off x="2133600" y="3314700"/>
            <a:ext cx="552450" cy="28575"/>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7AE3124-B0A6-43D7-AB8F-22D69F583642}"/>
              </a:ext>
            </a:extLst>
          </p:cNvPr>
          <p:cNvSpPr>
            <a:spLocks xmlns:a="http://schemas.openxmlformats.org/drawingml/2006/main" noGrp="1"/>
          </p:cNvSpPr>
          <p:nvPr/>
        </p:nvSpPr>
        <p:spPr>
          <a:xfrm xmlns:a="http://schemas.openxmlformats.org/drawingml/2006/main">
            <a:off x="2667000" y="3267075"/>
            <a:ext cx="114300" cy="9525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7989CCB-8682-4344-AEDE-31ED18DBD1A8}"/>
              </a:ext>
            </a:extLst>
          </p:cNvPr>
          <p:cNvSpPr>
            <a:spLocks xmlns:a="http://schemas.openxmlformats.org/drawingml/2006/main" noGrp="1"/>
          </p:cNvSpPr>
          <p:nvPr/>
        </p:nvSpPr>
        <p:spPr>
          <a:xfrm xmlns:a="http://schemas.openxmlformats.org/drawingml/2006/main">
            <a:off x="2895600" y="2686050"/>
            <a:ext cx="1295400" cy="1257300"/>
          </a:xfrm>
          <a:prstGeom xmlns:a="http://schemas.openxmlformats.org/drawingml/2006/main" prst="rect">
            <a:avLst/>
          </a:prstGeom>
          <a:solidFill xmlns:a="http://schemas.openxmlformats.org/drawingml/2006/main">
            <a:srgbClr val="FFF8E6"/>
          </a:solidFill>
          <a:ln xmlns:a="http://schemas.openxmlformats.org/drawingml/2006/main" w="19050">
            <a:solidFill>
              <a:srgbClr val="D6A53A"/>
            </a:solidFill>
            <a:prstDash val="solid"/>
          </a:ln>
        </p:spPr>
      </p:sp>
      <p:sp>
        <p:nvSpPr>
          <p:cNvPr id="14" name="">
            <a:extLst xmlns:a="http://schemas.openxmlformats.org/drawingml/2006/main">
              <a:ext uri="{FF2B5EF4-FFF2-40B4-BE49-F238E27FC236}">
                <a16:creationId xmlns:a16="http://schemas.microsoft.com/office/drawing/2014/main" id="{082B5B47-AF75-4505-ADD5-90ABE7687412}"/>
              </a:ext>
            </a:extLst>
          </p:cNvPr>
          <p:cNvSpPr>
            <a:spLocks xmlns:a="http://schemas.openxmlformats.org/drawingml/2006/main" noGrp="1"/>
          </p:cNvSpPr>
          <p:nvPr/>
        </p:nvSpPr>
        <p:spPr>
          <a:xfrm xmlns:a="http://schemas.openxmlformats.org/drawingml/2006/main">
            <a:off x="2895600" y="2838450"/>
            <a:ext cx="1295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D6A53A"/>
                </a:solidFill>
                <a:latin typeface="Georgia"/>
                <a:ea typeface="Georgia"/>
                <a:cs typeface="Georgia"/>
              </a:defRPr>
            </a:pPr>
            <a:r>
              <a:rPr sz="2250" b="1">
                <a:solidFill>
                  <a:srgbClr val="D6A53A"/>
                </a:solidFill>
                <a:latin typeface="Georgia"/>
                <a:ea typeface="Georgia"/>
                <a:cs typeface="Georgia"/>
              </a:rPr>
              <a:t>H</a:t>
            </a:r>
          </a:p>
        </p:txBody>
      </p:sp>
      <p:sp>
        <p:nvSpPr>
          <p:cNvPr id="15" name="">
            <a:extLst xmlns:a="http://schemas.openxmlformats.org/drawingml/2006/main">
              <a:ext uri="{FF2B5EF4-FFF2-40B4-BE49-F238E27FC236}">
                <a16:creationId xmlns:a16="http://schemas.microsoft.com/office/drawing/2014/main" id="{A33D3919-4070-472A-A220-24E5E6EE60BE}"/>
              </a:ext>
            </a:extLst>
          </p:cNvPr>
          <p:cNvSpPr>
            <a:spLocks xmlns:a="http://schemas.openxmlformats.org/drawingml/2006/main" noGrp="1"/>
          </p:cNvSpPr>
          <p:nvPr/>
        </p:nvSpPr>
        <p:spPr>
          <a:xfrm xmlns:a="http://schemas.openxmlformats.org/drawingml/2006/main">
            <a:off x="2990850" y="331470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Hàng hóa đầu vào</a:t>
            </a:r>
          </a:p>
        </p:txBody>
      </p:sp>
      <p:sp>
        <p:nvSpPr>
          <p:cNvPr id="16" name="">
            <a:extLst xmlns:a="http://schemas.openxmlformats.org/drawingml/2006/main">
              <a:ext uri="{FF2B5EF4-FFF2-40B4-BE49-F238E27FC236}">
                <a16:creationId xmlns:a16="http://schemas.microsoft.com/office/drawing/2014/main" id="{C0613913-CCEE-48E3-A99B-CA273B63E506}"/>
              </a:ext>
            </a:extLst>
          </p:cNvPr>
          <p:cNvSpPr>
            <a:spLocks xmlns:a="http://schemas.openxmlformats.org/drawingml/2006/main" noGrp="1"/>
          </p:cNvSpPr>
          <p:nvPr/>
        </p:nvSpPr>
        <p:spPr>
          <a:xfrm xmlns:a="http://schemas.openxmlformats.org/drawingml/2006/main">
            <a:off x="3009900" y="35623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đất, vật liệu, lao động</a:t>
            </a:r>
          </a:p>
        </p:txBody>
      </p:sp>
      <p:sp>
        <p:nvSpPr>
          <p:cNvPr id="17" name="">
            <a:extLst xmlns:a="http://schemas.openxmlformats.org/drawingml/2006/main">
              <a:ext uri="{FF2B5EF4-FFF2-40B4-BE49-F238E27FC236}">
                <a16:creationId xmlns:a16="http://schemas.microsoft.com/office/drawing/2014/main" id="{9F828354-69A7-4B39-B8D5-EC96589BF5E0}"/>
              </a:ext>
            </a:extLst>
          </p:cNvPr>
          <p:cNvSpPr>
            <a:spLocks xmlns:a="http://schemas.openxmlformats.org/drawingml/2006/main" noGrp="1"/>
          </p:cNvSpPr>
          <p:nvPr/>
        </p:nvSpPr>
        <p:spPr>
          <a:xfrm xmlns:a="http://schemas.openxmlformats.org/drawingml/2006/main">
            <a:off x="4248150" y="3314700"/>
            <a:ext cx="552450" cy="28575"/>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48627694-BD37-45C7-840B-B41A1B07E484}"/>
              </a:ext>
            </a:extLst>
          </p:cNvPr>
          <p:cNvSpPr>
            <a:spLocks xmlns:a="http://schemas.openxmlformats.org/drawingml/2006/main" noGrp="1"/>
          </p:cNvSpPr>
          <p:nvPr/>
        </p:nvSpPr>
        <p:spPr>
          <a:xfrm xmlns:a="http://schemas.openxmlformats.org/drawingml/2006/main">
            <a:off x="4781550" y="3267075"/>
            <a:ext cx="114300" cy="952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C5EFF51-FC90-4BF2-A72D-A71C5FE4FFB8}"/>
              </a:ext>
            </a:extLst>
          </p:cNvPr>
          <p:cNvSpPr>
            <a:spLocks xmlns:a="http://schemas.openxmlformats.org/drawingml/2006/main" noGrp="1"/>
          </p:cNvSpPr>
          <p:nvPr/>
        </p:nvSpPr>
        <p:spPr>
          <a:xfrm xmlns:a="http://schemas.openxmlformats.org/drawingml/2006/main">
            <a:off x="5010150" y="2686050"/>
            <a:ext cx="1295400" cy="1257300"/>
          </a:xfrm>
          <a:prstGeom xmlns:a="http://schemas.openxmlformats.org/drawingml/2006/main" prst="rect">
            <a:avLst/>
          </a:prstGeom>
          <a:solidFill xmlns:a="http://schemas.openxmlformats.org/drawingml/2006/main">
            <a:srgbClr val="FFF8E6"/>
          </a:solidFill>
          <a:ln xmlns:a="http://schemas.openxmlformats.org/drawingml/2006/main" w="19050">
            <a:solidFill>
              <a:srgbClr val="B75D32"/>
            </a:solidFill>
            <a:prstDash val="solid"/>
          </a:ln>
        </p:spPr>
      </p:sp>
      <p:sp>
        <p:nvSpPr>
          <p:cNvPr id="20" name="">
            <a:extLst xmlns:a="http://schemas.openxmlformats.org/drawingml/2006/main">
              <a:ext uri="{FF2B5EF4-FFF2-40B4-BE49-F238E27FC236}">
                <a16:creationId xmlns:a16="http://schemas.microsoft.com/office/drawing/2014/main" id="{F0F06661-FE9B-424B-B1B7-491F291BA709}"/>
              </a:ext>
            </a:extLst>
          </p:cNvPr>
          <p:cNvSpPr>
            <a:spLocks xmlns:a="http://schemas.openxmlformats.org/drawingml/2006/main" noGrp="1"/>
          </p:cNvSpPr>
          <p:nvPr/>
        </p:nvSpPr>
        <p:spPr>
          <a:xfrm xmlns:a="http://schemas.openxmlformats.org/drawingml/2006/main">
            <a:off x="5010150" y="2838450"/>
            <a:ext cx="1295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B75D32"/>
                </a:solidFill>
                <a:latin typeface="Georgia"/>
                <a:ea typeface="Georgia"/>
                <a:cs typeface="Georgia"/>
              </a:defRPr>
            </a:pPr>
            <a:r>
              <a:rPr sz="2250" b="1">
                <a:solidFill>
                  <a:srgbClr val="B75D32"/>
                </a:solidFill>
                <a:latin typeface="Georgia"/>
                <a:ea typeface="Georgia"/>
                <a:cs typeface="Georgia"/>
              </a:rPr>
              <a:t>SX</a:t>
            </a:r>
          </a:p>
        </p:txBody>
      </p:sp>
      <p:sp>
        <p:nvSpPr>
          <p:cNvPr id="21" name="">
            <a:extLst xmlns:a="http://schemas.openxmlformats.org/drawingml/2006/main">
              <a:ext uri="{FF2B5EF4-FFF2-40B4-BE49-F238E27FC236}">
                <a16:creationId xmlns:a16="http://schemas.microsoft.com/office/drawing/2014/main" id="{617B4237-B6A0-427D-8646-029172675913}"/>
              </a:ext>
            </a:extLst>
          </p:cNvPr>
          <p:cNvSpPr>
            <a:spLocks xmlns:a="http://schemas.openxmlformats.org/drawingml/2006/main" noGrp="1"/>
          </p:cNvSpPr>
          <p:nvPr/>
        </p:nvSpPr>
        <p:spPr>
          <a:xfrm xmlns:a="http://schemas.openxmlformats.org/drawingml/2006/main">
            <a:off x="5105400" y="331470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Sản xuất</a:t>
            </a:r>
          </a:p>
        </p:txBody>
      </p:sp>
      <p:sp>
        <p:nvSpPr>
          <p:cNvPr id="22" name="">
            <a:extLst xmlns:a="http://schemas.openxmlformats.org/drawingml/2006/main">
              <a:ext uri="{FF2B5EF4-FFF2-40B4-BE49-F238E27FC236}">
                <a16:creationId xmlns:a16="http://schemas.microsoft.com/office/drawing/2014/main" id="{A3003440-D68E-49EA-AC23-10A4B22D4ADC}"/>
              </a:ext>
            </a:extLst>
          </p:cNvPr>
          <p:cNvSpPr>
            <a:spLocks xmlns:a="http://schemas.openxmlformats.org/drawingml/2006/main" noGrp="1"/>
          </p:cNvSpPr>
          <p:nvPr/>
        </p:nvSpPr>
        <p:spPr>
          <a:xfrm xmlns:a="http://schemas.openxmlformats.org/drawingml/2006/main">
            <a:off x="5124450" y="35623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lao động tạo giá trị mới</a:t>
            </a:r>
          </a:p>
        </p:txBody>
      </p:sp>
      <p:sp>
        <p:nvSpPr>
          <p:cNvPr id="23" name="">
            <a:extLst xmlns:a="http://schemas.openxmlformats.org/drawingml/2006/main">
              <a:ext uri="{FF2B5EF4-FFF2-40B4-BE49-F238E27FC236}">
                <a16:creationId xmlns:a16="http://schemas.microsoft.com/office/drawing/2014/main" id="{D894363F-FA43-4924-8667-B1754B3FA681}"/>
              </a:ext>
            </a:extLst>
          </p:cNvPr>
          <p:cNvSpPr>
            <a:spLocks xmlns:a="http://schemas.openxmlformats.org/drawingml/2006/main" noGrp="1"/>
          </p:cNvSpPr>
          <p:nvPr/>
        </p:nvSpPr>
        <p:spPr>
          <a:xfrm xmlns:a="http://schemas.openxmlformats.org/drawingml/2006/main">
            <a:off x="6362700" y="3314700"/>
            <a:ext cx="552450" cy="28575"/>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3820A92-7C22-4A12-9083-01F9C6413DDE}"/>
              </a:ext>
            </a:extLst>
          </p:cNvPr>
          <p:cNvSpPr>
            <a:spLocks xmlns:a="http://schemas.openxmlformats.org/drawingml/2006/main" noGrp="1"/>
          </p:cNvSpPr>
          <p:nvPr/>
        </p:nvSpPr>
        <p:spPr>
          <a:xfrm xmlns:a="http://schemas.openxmlformats.org/drawingml/2006/main">
            <a:off x="6896100" y="3267075"/>
            <a:ext cx="11430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56853AA5-0548-44D7-BC60-548C0092BC9D}"/>
              </a:ext>
            </a:extLst>
          </p:cNvPr>
          <p:cNvSpPr>
            <a:spLocks xmlns:a="http://schemas.openxmlformats.org/drawingml/2006/main" noGrp="1"/>
          </p:cNvSpPr>
          <p:nvPr/>
        </p:nvSpPr>
        <p:spPr>
          <a:xfrm xmlns:a="http://schemas.openxmlformats.org/drawingml/2006/main">
            <a:off x="7124700" y="2686050"/>
            <a:ext cx="1295400" cy="1257300"/>
          </a:xfrm>
          <a:prstGeom xmlns:a="http://schemas.openxmlformats.org/drawingml/2006/main" prst="rect">
            <a:avLst/>
          </a:prstGeom>
          <a:solidFill xmlns:a="http://schemas.openxmlformats.org/drawingml/2006/main">
            <a:srgbClr val="171514"/>
          </a:solidFill>
          <a:ln xmlns:a="http://schemas.openxmlformats.org/drawingml/2006/main" w="19050">
            <a:solidFill>
              <a:srgbClr val="8E2D22"/>
            </a:solidFill>
            <a:prstDash val="solid"/>
          </a:ln>
        </p:spPr>
      </p:sp>
      <p:sp>
        <p:nvSpPr>
          <p:cNvPr id="26" name="">
            <a:extLst xmlns:a="http://schemas.openxmlformats.org/drawingml/2006/main">
              <a:ext uri="{FF2B5EF4-FFF2-40B4-BE49-F238E27FC236}">
                <a16:creationId xmlns:a16="http://schemas.microsoft.com/office/drawing/2014/main" id="{7651A2F5-9A8A-4C10-B58E-4666A07549E1}"/>
              </a:ext>
            </a:extLst>
          </p:cNvPr>
          <p:cNvSpPr>
            <a:spLocks xmlns:a="http://schemas.openxmlformats.org/drawingml/2006/main" noGrp="1"/>
          </p:cNvSpPr>
          <p:nvPr/>
        </p:nvSpPr>
        <p:spPr>
          <a:xfrm xmlns:a="http://schemas.openxmlformats.org/drawingml/2006/main">
            <a:off x="7124700" y="2838450"/>
            <a:ext cx="1295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FFFFFF"/>
                </a:solidFill>
                <a:latin typeface="Georgia"/>
                <a:ea typeface="Georgia"/>
                <a:cs typeface="Georgia"/>
              </a:defRPr>
            </a:pPr>
            <a:r>
              <a:rPr sz="2250" b="1">
                <a:solidFill>
                  <a:srgbClr val="FFFFFF"/>
                </a:solidFill>
                <a:latin typeface="Georgia"/>
                <a:ea typeface="Georgia"/>
                <a:cs typeface="Georgia"/>
              </a:rPr>
              <a:t>H'</a:t>
            </a:r>
          </a:p>
        </p:txBody>
      </p:sp>
      <p:sp>
        <p:nvSpPr>
          <p:cNvPr id="27" name="">
            <a:extLst xmlns:a="http://schemas.openxmlformats.org/drawingml/2006/main">
              <a:ext uri="{FF2B5EF4-FFF2-40B4-BE49-F238E27FC236}">
                <a16:creationId xmlns:a16="http://schemas.microsoft.com/office/drawing/2014/main" id="{E2B42FA3-83B2-49F0-96F3-6D441AD4CD54}"/>
              </a:ext>
            </a:extLst>
          </p:cNvPr>
          <p:cNvSpPr>
            <a:spLocks xmlns:a="http://schemas.openxmlformats.org/drawingml/2006/main" noGrp="1"/>
          </p:cNvSpPr>
          <p:nvPr/>
        </p:nvSpPr>
        <p:spPr>
          <a:xfrm xmlns:a="http://schemas.openxmlformats.org/drawingml/2006/main">
            <a:off x="7219950" y="331470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F6EFD8"/>
                </a:solidFill>
                <a:latin typeface="Avenir Next"/>
                <a:ea typeface="Avenir Next"/>
                <a:cs typeface="Avenir Next"/>
              </a:defRPr>
            </a:pPr>
            <a:r>
              <a:rPr sz="788" b="1">
                <a:solidFill>
                  <a:srgbClr val="F6EFD8"/>
                </a:solidFill>
                <a:latin typeface="Avenir Next"/>
                <a:ea typeface="Avenir Next"/>
                <a:cs typeface="Avenir Next"/>
              </a:rPr>
              <a:t>Hàng hóa mới</a:t>
            </a:r>
          </a:p>
        </p:txBody>
      </p:sp>
      <p:sp>
        <p:nvSpPr>
          <p:cNvPr id="28" name="">
            <a:extLst xmlns:a="http://schemas.openxmlformats.org/drawingml/2006/main">
              <a:ext uri="{FF2B5EF4-FFF2-40B4-BE49-F238E27FC236}">
                <a16:creationId xmlns:a16="http://schemas.microsoft.com/office/drawing/2014/main" id="{D95E6D77-96D1-4007-A906-17DDC34ACE05}"/>
              </a:ext>
            </a:extLst>
          </p:cNvPr>
          <p:cNvSpPr>
            <a:spLocks xmlns:a="http://schemas.openxmlformats.org/drawingml/2006/main" noGrp="1"/>
          </p:cNvSpPr>
          <p:nvPr/>
        </p:nvSpPr>
        <p:spPr>
          <a:xfrm xmlns:a="http://schemas.openxmlformats.org/drawingml/2006/main">
            <a:off x="7239000" y="35623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00" b="0">
                <a:solidFill>
                  <a:srgbClr val="D8C8A9"/>
                </a:solidFill>
                <a:latin typeface="Avenir Next"/>
                <a:ea typeface="Avenir Next"/>
                <a:cs typeface="Avenir Next"/>
              </a:defRPr>
            </a:pPr>
            <a:r>
              <a:rPr sz="600" b="0">
                <a:solidFill>
                  <a:srgbClr val="D8C8A9"/>
                </a:solidFill>
                <a:latin typeface="Avenir Next"/>
                <a:ea typeface="Avenir Next"/>
                <a:cs typeface="Avenir Next"/>
              </a:rPr>
              <a:t>nhà/đô thị chứa giá trị thặng dư</a:t>
            </a:r>
          </a:p>
        </p:txBody>
      </p:sp>
      <p:sp>
        <p:nvSpPr>
          <p:cNvPr id="29" name="">
            <a:extLst xmlns:a="http://schemas.openxmlformats.org/drawingml/2006/main">
              <a:ext uri="{FF2B5EF4-FFF2-40B4-BE49-F238E27FC236}">
                <a16:creationId xmlns:a16="http://schemas.microsoft.com/office/drawing/2014/main" id="{16FA10EB-7261-4BE9-9525-D7779EB2586B}"/>
              </a:ext>
            </a:extLst>
          </p:cNvPr>
          <p:cNvSpPr>
            <a:spLocks xmlns:a="http://schemas.openxmlformats.org/drawingml/2006/main" noGrp="1"/>
          </p:cNvSpPr>
          <p:nvPr/>
        </p:nvSpPr>
        <p:spPr>
          <a:xfrm xmlns:a="http://schemas.openxmlformats.org/drawingml/2006/main">
            <a:off x="8477250" y="3314700"/>
            <a:ext cx="552450" cy="28575"/>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8B8D2FD-5770-485A-BB4E-BD9B5BFD34BF}"/>
              </a:ext>
            </a:extLst>
          </p:cNvPr>
          <p:cNvSpPr>
            <a:spLocks xmlns:a="http://schemas.openxmlformats.org/drawingml/2006/main" noGrp="1"/>
          </p:cNvSpPr>
          <p:nvPr/>
        </p:nvSpPr>
        <p:spPr>
          <a:xfrm xmlns:a="http://schemas.openxmlformats.org/drawingml/2006/main">
            <a:off x="9010650" y="3267075"/>
            <a:ext cx="114300" cy="952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777AE735-D03F-4206-AAB1-570FF546C958}"/>
              </a:ext>
            </a:extLst>
          </p:cNvPr>
          <p:cNvSpPr>
            <a:spLocks xmlns:a="http://schemas.openxmlformats.org/drawingml/2006/main" noGrp="1"/>
          </p:cNvSpPr>
          <p:nvPr/>
        </p:nvSpPr>
        <p:spPr>
          <a:xfrm xmlns:a="http://schemas.openxmlformats.org/drawingml/2006/main">
            <a:off x="9239250" y="2686050"/>
            <a:ext cx="1295400" cy="1257300"/>
          </a:xfrm>
          <a:prstGeom xmlns:a="http://schemas.openxmlformats.org/drawingml/2006/main" prst="rect">
            <a:avLst/>
          </a:prstGeom>
          <a:solidFill xmlns:a="http://schemas.openxmlformats.org/drawingml/2006/main">
            <a:srgbClr val="FFF8E6"/>
          </a:solidFill>
          <a:ln xmlns:a="http://schemas.openxmlformats.org/drawingml/2006/main" w="19050">
            <a:solidFill>
              <a:srgbClr val="1F7A75"/>
            </a:solidFill>
            <a:prstDash val="solid"/>
          </a:ln>
        </p:spPr>
      </p:sp>
      <p:sp>
        <p:nvSpPr>
          <p:cNvPr id="32" name="">
            <a:extLst xmlns:a="http://schemas.openxmlformats.org/drawingml/2006/main">
              <a:ext uri="{FF2B5EF4-FFF2-40B4-BE49-F238E27FC236}">
                <a16:creationId xmlns:a16="http://schemas.microsoft.com/office/drawing/2014/main" id="{22B7A1E9-0CD3-4EC7-85E3-E7226E234300}"/>
              </a:ext>
            </a:extLst>
          </p:cNvPr>
          <p:cNvSpPr>
            <a:spLocks xmlns:a="http://schemas.openxmlformats.org/drawingml/2006/main" noGrp="1"/>
          </p:cNvSpPr>
          <p:nvPr/>
        </p:nvSpPr>
        <p:spPr>
          <a:xfrm xmlns:a="http://schemas.openxmlformats.org/drawingml/2006/main">
            <a:off x="9239250" y="2838450"/>
            <a:ext cx="1295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250" b="1">
                <a:solidFill>
                  <a:srgbClr val="1F7A75"/>
                </a:solidFill>
                <a:latin typeface="Georgia"/>
                <a:ea typeface="Georgia"/>
                <a:cs typeface="Georgia"/>
              </a:defRPr>
            </a:pPr>
            <a:r>
              <a:rPr sz="2250" b="1">
                <a:solidFill>
                  <a:srgbClr val="1F7A75"/>
                </a:solidFill>
                <a:latin typeface="Georgia"/>
                <a:ea typeface="Georgia"/>
                <a:cs typeface="Georgia"/>
              </a:rPr>
              <a:t>T'</a:t>
            </a:r>
          </a:p>
        </p:txBody>
      </p:sp>
      <p:sp>
        <p:nvSpPr>
          <p:cNvPr id="33" name="">
            <a:extLst xmlns:a="http://schemas.openxmlformats.org/drawingml/2006/main">
              <a:ext uri="{FF2B5EF4-FFF2-40B4-BE49-F238E27FC236}">
                <a16:creationId xmlns:a16="http://schemas.microsoft.com/office/drawing/2014/main" id="{48B4FBAD-499F-4856-995B-DAFEC7C3DB44}"/>
              </a:ext>
            </a:extLst>
          </p:cNvPr>
          <p:cNvSpPr>
            <a:spLocks xmlns:a="http://schemas.openxmlformats.org/drawingml/2006/main" noGrp="1"/>
          </p:cNvSpPr>
          <p:nvPr/>
        </p:nvSpPr>
        <p:spPr>
          <a:xfrm xmlns:a="http://schemas.openxmlformats.org/drawingml/2006/main">
            <a:off x="9334500" y="3314700"/>
            <a:ext cx="110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F1A14"/>
                </a:solidFill>
                <a:latin typeface="Avenir Next"/>
                <a:ea typeface="Avenir Next"/>
                <a:cs typeface="Avenir Next"/>
              </a:defRPr>
            </a:pPr>
            <a:r>
              <a:rPr sz="788" b="1">
                <a:solidFill>
                  <a:srgbClr val="1F1A14"/>
                </a:solidFill>
                <a:latin typeface="Avenir Next"/>
                <a:ea typeface="Avenir Next"/>
                <a:cs typeface="Avenir Next"/>
              </a:rPr>
              <a:t>Tiền tăng thêm</a:t>
            </a:r>
          </a:p>
        </p:txBody>
      </p:sp>
      <p:sp>
        <p:nvSpPr>
          <p:cNvPr id="34" name="">
            <a:extLst xmlns:a="http://schemas.openxmlformats.org/drawingml/2006/main">
              <a:ext uri="{FF2B5EF4-FFF2-40B4-BE49-F238E27FC236}">
                <a16:creationId xmlns:a16="http://schemas.microsoft.com/office/drawing/2014/main" id="{2AC3E590-DB6F-4224-900A-1CEDC8B07DD9}"/>
              </a:ext>
            </a:extLst>
          </p:cNvPr>
          <p:cNvSpPr>
            <a:spLocks xmlns:a="http://schemas.openxmlformats.org/drawingml/2006/main" noGrp="1"/>
          </p:cNvSpPr>
          <p:nvPr/>
        </p:nvSpPr>
        <p:spPr>
          <a:xfrm xmlns:a="http://schemas.openxmlformats.org/drawingml/2006/main">
            <a:off x="9353550" y="3562350"/>
            <a:ext cx="1066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thu tiền bán hàng và lợi nhuận</a:t>
            </a:r>
          </a:p>
        </p:txBody>
      </p:sp>
      <p:sp>
        <p:nvSpPr>
          <p:cNvPr id="35" name="">
            <a:extLst xmlns:a="http://schemas.openxmlformats.org/drawingml/2006/main">
              <a:ext uri="{FF2B5EF4-FFF2-40B4-BE49-F238E27FC236}">
                <a16:creationId xmlns:a16="http://schemas.microsoft.com/office/drawing/2014/main" id="{A7EED424-3A88-428E-B2D1-FF2A6E41100D}"/>
              </a:ext>
            </a:extLst>
          </p:cNvPr>
          <p:cNvSpPr>
            <a:spLocks xmlns:a="http://schemas.openxmlformats.org/drawingml/2006/main" noGrp="1"/>
          </p:cNvSpPr>
          <p:nvPr/>
        </p:nvSpPr>
        <p:spPr>
          <a:xfrm xmlns:a="http://schemas.openxmlformats.org/drawingml/2006/main">
            <a:off x="3676650" y="4648200"/>
            <a:ext cx="3105150" cy="323850"/>
          </a:xfrm>
          <a:prstGeom xmlns:a="http://schemas.openxmlformats.org/drawingml/2006/main" prst="rect">
            <a:avLst/>
          </a:prstGeom>
          <a:solidFill xmlns:a="http://schemas.openxmlformats.org/drawingml/2006/main">
            <a:srgbClr val="171514"/>
          </a:solidFill>
          <a:ln xmlns:a="http://schemas.openxmlformats.org/drawingml/2006/main" w="9525">
            <a:solidFill>
              <a:srgbClr val="171514"/>
            </a:solidFill>
            <a:prstDash val="solid"/>
          </a:ln>
        </p:spPr>
      </p:sp>
      <p:sp>
        <p:nvSpPr>
          <p:cNvPr id="36" name="">
            <a:extLst xmlns:a="http://schemas.openxmlformats.org/drawingml/2006/main">
              <a:ext uri="{FF2B5EF4-FFF2-40B4-BE49-F238E27FC236}">
                <a16:creationId xmlns:a16="http://schemas.microsoft.com/office/drawing/2014/main" id="{B38DDF02-8326-462A-A9CA-4CFB0491378C}"/>
              </a:ext>
            </a:extLst>
          </p:cNvPr>
          <p:cNvSpPr>
            <a:spLocks xmlns:a="http://schemas.openxmlformats.org/drawingml/2006/main" noGrp="1"/>
          </p:cNvSpPr>
          <p:nvPr/>
        </p:nvSpPr>
        <p:spPr>
          <a:xfrm xmlns:a="http://schemas.openxmlformats.org/drawingml/2006/main">
            <a:off x="3790950" y="4724400"/>
            <a:ext cx="2876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venir Next"/>
                <a:ea typeface="Avenir Next"/>
                <a:cs typeface="Avenir Next"/>
              </a:defRPr>
            </a:pPr>
            <a:r>
              <a:rPr sz="750" b="1">
                <a:solidFill>
                  <a:srgbClr val="FFFFFF"/>
                </a:solidFill>
                <a:latin typeface="Avenir Next"/>
                <a:ea typeface="Avenir Next"/>
                <a:cs typeface="Avenir Next"/>
              </a:rPr>
              <a:t>Tư bản chỉ sống khi vận động</a:t>
            </a:r>
          </a:p>
        </p:txBody>
      </p:sp>
      <p:sp>
        <p:nvSpPr>
          <p:cNvPr id="37" name="">
            <a:extLst xmlns:a="http://schemas.openxmlformats.org/drawingml/2006/main">
              <a:ext uri="{FF2B5EF4-FFF2-40B4-BE49-F238E27FC236}">
                <a16:creationId xmlns:a16="http://schemas.microsoft.com/office/drawing/2014/main" id="{61B3A498-CA8E-4891-A07F-638EAAFC72EB}"/>
              </a:ext>
            </a:extLst>
          </p:cNvPr>
          <p:cNvSpPr>
            <a:spLocks xmlns:a="http://schemas.openxmlformats.org/drawingml/2006/main" noGrp="1"/>
          </p:cNvSpPr>
          <p:nvPr/>
        </p:nvSpPr>
        <p:spPr>
          <a:xfrm xmlns:a="http://schemas.openxmlformats.org/drawingml/2006/main">
            <a:off x="1562100" y="5162550"/>
            <a:ext cx="84963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9792C94-E900-42B6-A5B9-1AAE3EED0289}"/>
              </a:ext>
            </a:extLst>
          </p:cNvPr>
          <p:cNvSpPr>
            <a:spLocks xmlns:a="http://schemas.openxmlformats.org/drawingml/2006/main" noGrp="1"/>
          </p:cNvSpPr>
          <p:nvPr/>
        </p:nvSpPr>
        <p:spPr>
          <a:xfrm xmlns:a="http://schemas.openxmlformats.org/drawingml/2006/main">
            <a:off x="1809750" y="5353050"/>
            <a:ext cx="8001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88" b="1">
                <a:solidFill>
                  <a:srgbClr val="1F1A14"/>
                </a:solidFill>
                <a:latin typeface="Avenir Next"/>
                <a:ea typeface="Avenir Next"/>
                <a:cs typeface="Avenir Next"/>
              </a:defRPr>
            </a:pPr>
            <a:r>
              <a:rPr sz="1088" b="1">
                <a:solidFill>
                  <a:srgbClr val="1F1A14"/>
                </a:solidFill>
                <a:latin typeface="Avenir Next"/>
                <a:ea typeface="Avenir Next"/>
                <a:cs typeface="Avenir Next"/>
              </a:rPr>
              <a:t>Nếu một mắt xích bị đứt, giá trị không mất ngay, nhưng không thể tự tăng lên và cũng không thể tái sản xuất chu kỳ mới.</a:t>
            </a:r>
          </a:p>
        </p:txBody>
      </p:sp>
      <p:sp>
        <p:nvSpPr>
          <p:cNvPr id="39" name="">
            <a:extLst xmlns:a="http://schemas.openxmlformats.org/drawingml/2006/main">
              <a:ext uri="{FF2B5EF4-FFF2-40B4-BE49-F238E27FC236}">
                <a16:creationId xmlns:a16="http://schemas.microsoft.com/office/drawing/2014/main" id="{E5D4B54C-1A56-4110-B856-F42CC0CC78F2}"/>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366DEB13-0850-465E-A5B2-722E9365C750}"/>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Cơ sở lý thuyết: tuần hoàn của tư bản công nghiệp trong Kinh tế chính trị Mác - Lênin</a:t>
            </a:r>
          </a:p>
        </p:txBody>
      </p:sp>
      <p:sp>
        <p:nvSpPr>
          <p:cNvPr id="41" name="">
            <a:extLst xmlns:a="http://schemas.openxmlformats.org/drawingml/2006/main">
              <a:ext uri="{FF2B5EF4-FFF2-40B4-BE49-F238E27FC236}">
                <a16:creationId xmlns:a16="http://schemas.microsoft.com/office/drawing/2014/main" id="{2DE141C2-5936-43DA-AD87-7452275AE73C}"/>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03</a:t>
            </a:r>
          </a:p>
        </p:txBody>
      </p:sp>
    </p:spTree>
    <p:extLst>
      <p:ext uri="{BB962C8B-B14F-4D97-AF65-F5344CB8AC3E}">
        <p14:creationId xmlns:p14="http://schemas.microsoft.com/office/powerpoint/2010/main" val="17094813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8C5742-F716-4C38-89ED-F2E534642D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6F70FE4-507C-418D-8848-E572D5CC2A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99335023-BE6F-4EBC-8438-387F83A260E3}"/>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B68BB1E0-D01A-4C9B-A25F-1D1D1036EFFA}"/>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CHẨN ĐOÁN</a:t>
            </a:r>
          </a:p>
        </p:txBody>
      </p:sp>
      <p:sp>
        <p:nvSpPr>
          <p:cNvPr id="5" name="">
            <a:extLst xmlns:a="http://schemas.openxmlformats.org/drawingml/2006/main">
              <a:ext uri="{FF2B5EF4-FFF2-40B4-BE49-F238E27FC236}">
                <a16:creationId xmlns:a16="http://schemas.microsoft.com/office/drawing/2014/main" id="{4172CFAB-FE4E-411A-9EE9-BF88C53D3559}"/>
              </a:ext>
            </a:extLst>
          </p:cNvPr>
          <p:cNvSpPr>
            <a:spLocks xmlns:a="http://schemas.openxmlformats.org/drawingml/2006/main" noGrp="1"/>
          </p:cNvSpPr>
          <p:nvPr/>
        </p:nvSpPr>
        <p:spPr>
          <a:xfrm xmlns:a="http://schemas.openxmlformats.org/drawingml/2006/main">
            <a:off x="552450" y="742950"/>
            <a:ext cx="8191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Alpha Corp bị kẹt ở H': hàng hóa đã hình thành nhưng chưa bán được.</a:t>
            </a:r>
          </a:p>
        </p:txBody>
      </p:sp>
      <p:sp>
        <p:nvSpPr>
          <p:cNvPr id="6" name="">
            <a:extLst xmlns:a="http://schemas.openxmlformats.org/drawingml/2006/main">
              <a:ext uri="{FF2B5EF4-FFF2-40B4-BE49-F238E27FC236}">
                <a16:creationId xmlns:a16="http://schemas.microsoft.com/office/drawing/2014/main" id="{046F4227-C339-40B0-A5EC-9589D6A0D56F}"/>
              </a:ext>
            </a:extLst>
          </p:cNvPr>
          <p:cNvSpPr>
            <a:spLocks xmlns:a="http://schemas.openxmlformats.org/drawingml/2006/main" noGrp="1"/>
          </p:cNvSpPr>
          <p:nvPr/>
        </p:nvSpPr>
        <p:spPr>
          <a:xfrm xmlns:a="http://schemas.openxmlformats.org/drawingml/2006/main">
            <a:off x="895350" y="2781300"/>
            <a:ext cx="1428750" cy="876300"/>
          </a:xfrm>
          <a:prstGeom xmlns:a="http://schemas.openxmlformats.org/drawingml/2006/main" prst="rect">
            <a:avLst/>
          </a:prstGeom>
          <a:solidFill xmlns:a="http://schemas.openxmlformats.org/drawingml/2006/main">
            <a:srgbClr val="FFF8E6"/>
          </a:solidFill>
          <a:ln xmlns:a="http://schemas.openxmlformats.org/drawingml/2006/main" w="19050">
            <a:solidFill>
              <a:srgbClr val="1F7A75"/>
            </a:solidFill>
            <a:prstDash val="solid"/>
          </a:ln>
        </p:spPr>
      </p:sp>
      <p:sp>
        <p:nvSpPr>
          <p:cNvPr id="7" name="">
            <a:extLst xmlns:a="http://schemas.openxmlformats.org/drawingml/2006/main">
              <a:ext uri="{FF2B5EF4-FFF2-40B4-BE49-F238E27FC236}">
                <a16:creationId xmlns:a16="http://schemas.microsoft.com/office/drawing/2014/main" id="{8E099FFB-61E8-4308-AD80-6524B740E7E4}"/>
              </a:ext>
            </a:extLst>
          </p:cNvPr>
          <p:cNvSpPr>
            <a:spLocks xmlns:a="http://schemas.openxmlformats.org/drawingml/2006/main" noGrp="1"/>
          </p:cNvSpPr>
          <p:nvPr/>
        </p:nvSpPr>
        <p:spPr>
          <a:xfrm xmlns:a="http://schemas.openxmlformats.org/drawingml/2006/main">
            <a:off x="8953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7A75"/>
                </a:solidFill>
                <a:latin typeface="Georgia"/>
                <a:ea typeface="Georgia"/>
                <a:cs typeface="Georgia"/>
              </a:defRPr>
            </a:pPr>
            <a:r>
              <a:rPr sz="2100" b="1">
                <a:solidFill>
                  <a:srgbClr val="1F7A75"/>
                </a:solidFill>
                <a:latin typeface="Georgia"/>
                <a:ea typeface="Georgia"/>
                <a:cs typeface="Georgia"/>
              </a:rPr>
              <a:t>T</a:t>
            </a:r>
          </a:p>
        </p:txBody>
      </p:sp>
      <p:sp>
        <p:nvSpPr>
          <p:cNvPr id="8" name="">
            <a:extLst xmlns:a="http://schemas.openxmlformats.org/drawingml/2006/main">
              <a:ext uri="{FF2B5EF4-FFF2-40B4-BE49-F238E27FC236}">
                <a16:creationId xmlns:a16="http://schemas.microsoft.com/office/drawing/2014/main" id="{CFB364FD-4B1A-4730-9324-51884D4850D5}"/>
              </a:ext>
            </a:extLst>
          </p:cNvPr>
          <p:cNvSpPr>
            <a:spLocks xmlns:a="http://schemas.openxmlformats.org/drawingml/2006/main" noGrp="1"/>
          </p:cNvSpPr>
          <p:nvPr/>
        </p:nvSpPr>
        <p:spPr>
          <a:xfrm xmlns:a="http://schemas.openxmlformats.org/drawingml/2006/main">
            <a:off x="990600" y="329565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A5D4F"/>
                </a:solidFill>
                <a:latin typeface="Avenir Next"/>
                <a:ea typeface="Avenir Next"/>
                <a:cs typeface="Avenir Next"/>
              </a:defRPr>
            </a:pPr>
            <a:r>
              <a:rPr sz="713" b="0">
                <a:solidFill>
                  <a:srgbClr val="6A5D4F"/>
                </a:solidFill>
                <a:latin typeface="Avenir Next"/>
                <a:ea typeface="Avenir Next"/>
                <a:cs typeface="Avenir Next"/>
              </a:rPr>
              <a:t>10.000 tỷ vốn vay</a:t>
            </a:r>
          </a:p>
        </p:txBody>
      </p:sp>
      <p:sp>
        <p:nvSpPr>
          <p:cNvPr id="9" name="">
            <a:extLst xmlns:a="http://schemas.openxmlformats.org/drawingml/2006/main">
              <a:ext uri="{FF2B5EF4-FFF2-40B4-BE49-F238E27FC236}">
                <a16:creationId xmlns:a16="http://schemas.microsoft.com/office/drawing/2014/main" id="{100FD184-D313-4E94-ABE7-5BD063813C91}"/>
              </a:ext>
            </a:extLst>
          </p:cNvPr>
          <p:cNvSpPr>
            <a:spLocks xmlns:a="http://schemas.openxmlformats.org/drawingml/2006/main" noGrp="1"/>
          </p:cNvSpPr>
          <p:nvPr/>
        </p:nvSpPr>
        <p:spPr>
          <a:xfrm xmlns:a="http://schemas.openxmlformats.org/drawingml/2006/main">
            <a:off x="2419350" y="3219450"/>
            <a:ext cx="400050" cy="28575"/>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3974DE29-14AA-4F3A-A391-6DB3E591A58A}"/>
              </a:ext>
            </a:extLst>
          </p:cNvPr>
          <p:cNvSpPr>
            <a:spLocks xmlns:a="http://schemas.openxmlformats.org/drawingml/2006/main" noGrp="1"/>
          </p:cNvSpPr>
          <p:nvPr/>
        </p:nvSpPr>
        <p:spPr>
          <a:xfrm xmlns:a="http://schemas.openxmlformats.org/drawingml/2006/main">
            <a:off x="2800350" y="3171825"/>
            <a:ext cx="114300" cy="9525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BEFF0E9-FFFC-421B-82C6-31AFF9C456C7}"/>
              </a:ext>
            </a:extLst>
          </p:cNvPr>
          <p:cNvSpPr>
            <a:spLocks xmlns:a="http://schemas.openxmlformats.org/drawingml/2006/main" noGrp="1"/>
          </p:cNvSpPr>
          <p:nvPr/>
        </p:nvSpPr>
        <p:spPr>
          <a:xfrm xmlns:a="http://schemas.openxmlformats.org/drawingml/2006/main">
            <a:off x="2990850" y="2781300"/>
            <a:ext cx="1428750" cy="876300"/>
          </a:xfrm>
          <a:prstGeom xmlns:a="http://schemas.openxmlformats.org/drawingml/2006/main" prst="rect">
            <a:avLst/>
          </a:prstGeom>
          <a:solidFill xmlns:a="http://schemas.openxmlformats.org/drawingml/2006/main">
            <a:srgbClr val="FFF8E6"/>
          </a:solidFill>
          <a:ln xmlns:a="http://schemas.openxmlformats.org/drawingml/2006/main" w="19050">
            <a:solidFill>
              <a:srgbClr val="D6A53A"/>
            </a:solidFill>
            <a:prstDash val="solid"/>
          </a:ln>
        </p:spPr>
      </p:sp>
      <p:sp>
        <p:nvSpPr>
          <p:cNvPr id="12" name="">
            <a:extLst xmlns:a="http://schemas.openxmlformats.org/drawingml/2006/main">
              <a:ext uri="{FF2B5EF4-FFF2-40B4-BE49-F238E27FC236}">
                <a16:creationId xmlns:a16="http://schemas.microsoft.com/office/drawing/2014/main" id="{B70A3C06-BCBE-4A82-9157-07179B10BCD0}"/>
              </a:ext>
            </a:extLst>
          </p:cNvPr>
          <p:cNvSpPr>
            <a:spLocks xmlns:a="http://schemas.openxmlformats.org/drawingml/2006/main" noGrp="1"/>
          </p:cNvSpPr>
          <p:nvPr/>
        </p:nvSpPr>
        <p:spPr>
          <a:xfrm xmlns:a="http://schemas.openxmlformats.org/drawingml/2006/main">
            <a:off x="29908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6A53A"/>
                </a:solidFill>
                <a:latin typeface="Georgia"/>
                <a:ea typeface="Georgia"/>
                <a:cs typeface="Georgia"/>
              </a:defRPr>
            </a:pPr>
            <a:r>
              <a:rPr sz="2100" b="1">
                <a:solidFill>
                  <a:srgbClr val="D6A53A"/>
                </a:solidFill>
                <a:latin typeface="Georgia"/>
                <a:ea typeface="Georgia"/>
                <a:cs typeface="Georgia"/>
              </a:rPr>
              <a:t>H</a:t>
            </a:r>
          </a:p>
        </p:txBody>
      </p:sp>
      <p:sp>
        <p:nvSpPr>
          <p:cNvPr id="13" name="">
            <a:extLst xmlns:a="http://schemas.openxmlformats.org/drawingml/2006/main">
              <a:ext uri="{FF2B5EF4-FFF2-40B4-BE49-F238E27FC236}">
                <a16:creationId xmlns:a16="http://schemas.microsoft.com/office/drawing/2014/main" id="{C5E3B7D4-619C-4E01-A8D9-5BAEC1D2D717}"/>
              </a:ext>
            </a:extLst>
          </p:cNvPr>
          <p:cNvSpPr>
            <a:spLocks xmlns:a="http://schemas.openxmlformats.org/drawingml/2006/main" noGrp="1"/>
          </p:cNvSpPr>
          <p:nvPr/>
        </p:nvSpPr>
        <p:spPr>
          <a:xfrm xmlns:a="http://schemas.openxmlformats.org/drawingml/2006/main">
            <a:off x="3086100" y="329565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A5D4F"/>
                </a:solidFill>
                <a:latin typeface="Avenir Next"/>
                <a:ea typeface="Avenir Next"/>
                <a:cs typeface="Avenir Next"/>
              </a:defRPr>
            </a:pPr>
            <a:r>
              <a:rPr sz="713" b="0">
                <a:solidFill>
                  <a:srgbClr val="6A5D4F"/>
                </a:solidFill>
                <a:latin typeface="Avenir Next"/>
                <a:ea typeface="Avenir Next"/>
                <a:cs typeface="Avenir Next"/>
              </a:rPr>
              <a:t>đất, vật liệu, lao động</a:t>
            </a:r>
          </a:p>
        </p:txBody>
      </p:sp>
      <p:sp>
        <p:nvSpPr>
          <p:cNvPr id="14" name="">
            <a:extLst xmlns:a="http://schemas.openxmlformats.org/drawingml/2006/main">
              <a:ext uri="{FF2B5EF4-FFF2-40B4-BE49-F238E27FC236}">
                <a16:creationId xmlns:a16="http://schemas.microsoft.com/office/drawing/2014/main" id="{00A77640-D8A3-4081-A5A4-0CFFAE404AF5}"/>
              </a:ext>
            </a:extLst>
          </p:cNvPr>
          <p:cNvSpPr>
            <a:spLocks xmlns:a="http://schemas.openxmlformats.org/drawingml/2006/main" noGrp="1"/>
          </p:cNvSpPr>
          <p:nvPr/>
        </p:nvSpPr>
        <p:spPr>
          <a:xfrm xmlns:a="http://schemas.openxmlformats.org/drawingml/2006/main">
            <a:off x="4514850" y="3219450"/>
            <a:ext cx="400050" cy="28575"/>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8AF8041-5CCF-46E7-BABA-3D5584C4E670}"/>
              </a:ext>
            </a:extLst>
          </p:cNvPr>
          <p:cNvSpPr>
            <a:spLocks xmlns:a="http://schemas.openxmlformats.org/drawingml/2006/main" noGrp="1"/>
          </p:cNvSpPr>
          <p:nvPr/>
        </p:nvSpPr>
        <p:spPr>
          <a:xfrm xmlns:a="http://schemas.openxmlformats.org/drawingml/2006/main">
            <a:off x="4895850" y="3171825"/>
            <a:ext cx="114300" cy="952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17D734B-9B43-4B76-A03F-C5F1276C33AC}"/>
              </a:ext>
            </a:extLst>
          </p:cNvPr>
          <p:cNvSpPr>
            <a:spLocks xmlns:a="http://schemas.openxmlformats.org/drawingml/2006/main" noGrp="1"/>
          </p:cNvSpPr>
          <p:nvPr/>
        </p:nvSpPr>
        <p:spPr>
          <a:xfrm xmlns:a="http://schemas.openxmlformats.org/drawingml/2006/main">
            <a:off x="5086350" y="2781300"/>
            <a:ext cx="1428750" cy="876300"/>
          </a:xfrm>
          <a:prstGeom xmlns:a="http://schemas.openxmlformats.org/drawingml/2006/main" prst="rect">
            <a:avLst/>
          </a:prstGeom>
          <a:solidFill xmlns:a="http://schemas.openxmlformats.org/drawingml/2006/main">
            <a:srgbClr val="FFF8E6"/>
          </a:solidFill>
          <a:ln xmlns:a="http://schemas.openxmlformats.org/drawingml/2006/main" w="19050">
            <a:solidFill>
              <a:srgbClr val="B75D32"/>
            </a:solidFill>
            <a:prstDash val="solid"/>
          </a:ln>
        </p:spPr>
      </p:sp>
      <p:sp>
        <p:nvSpPr>
          <p:cNvPr id="17" name="">
            <a:extLst xmlns:a="http://schemas.openxmlformats.org/drawingml/2006/main">
              <a:ext uri="{FF2B5EF4-FFF2-40B4-BE49-F238E27FC236}">
                <a16:creationId xmlns:a16="http://schemas.microsoft.com/office/drawing/2014/main" id="{FF2BED3F-7998-4F12-B52D-9576DBCB4273}"/>
              </a:ext>
            </a:extLst>
          </p:cNvPr>
          <p:cNvSpPr>
            <a:spLocks xmlns:a="http://schemas.openxmlformats.org/drawingml/2006/main" noGrp="1"/>
          </p:cNvSpPr>
          <p:nvPr/>
        </p:nvSpPr>
        <p:spPr>
          <a:xfrm xmlns:a="http://schemas.openxmlformats.org/drawingml/2006/main">
            <a:off x="50863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B75D32"/>
                </a:solidFill>
                <a:latin typeface="Georgia"/>
                <a:ea typeface="Georgia"/>
                <a:cs typeface="Georgia"/>
              </a:defRPr>
            </a:pPr>
            <a:r>
              <a:rPr sz="2100" b="1">
                <a:solidFill>
                  <a:srgbClr val="B75D32"/>
                </a:solidFill>
                <a:latin typeface="Georgia"/>
                <a:ea typeface="Georgia"/>
                <a:cs typeface="Georgia"/>
              </a:rPr>
              <a:t>SX</a:t>
            </a:r>
          </a:p>
        </p:txBody>
      </p:sp>
      <p:sp>
        <p:nvSpPr>
          <p:cNvPr id="18" name="">
            <a:extLst xmlns:a="http://schemas.openxmlformats.org/drawingml/2006/main">
              <a:ext uri="{FF2B5EF4-FFF2-40B4-BE49-F238E27FC236}">
                <a16:creationId xmlns:a16="http://schemas.microsoft.com/office/drawing/2014/main" id="{00072C34-BAC5-4501-8766-C34E44D8A6A2}"/>
              </a:ext>
            </a:extLst>
          </p:cNvPr>
          <p:cNvSpPr>
            <a:spLocks xmlns:a="http://schemas.openxmlformats.org/drawingml/2006/main" noGrp="1"/>
          </p:cNvSpPr>
          <p:nvPr/>
        </p:nvSpPr>
        <p:spPr>
          <a:xfrm xmlns:a="http://schemas.openxmlformats.org/drawingml/2006/main">
            <a:off x="5181600" y="329565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A5D4F"/>
                </a:solidFill>
                <a:latin typeface="Avenir Next"/>
                <a:ea typeface="Avenir Next"/>
                <a:cs typeface="Avenir Next"/>
              </a:defRPr>
            </a:pPr>
            <a:r>
              <a:rPr sz="713" b="0">
                <a:solidFill>
                  <a:srgbClr val="6A5D4F"/>
                </a:solidFill>
                <a:latin typeface="Avenir Next"/>
                <a:ea typeface="Avenir Next"/>
                <a:cs typeface="Avenir Next"/>
              </a:rPr>
              <a:t>xây dựng dự án</a:t>
            </a:r>
          </a:p>
        </p:txBody>
      </p:sp>
      <p:sp>
        <p:nvSpPr>
          <p:cNvPr id="19" name="">
            <a:extLst xmlns:a="http://schemas.openxmlformats.org/drawingml/2006/main">
              <a:ext uri="{FF2B5EF4-FFF2-40B4-BE49-F238E27FC236}">
                <a16:creationId xmlns:a16="http://schemas.microsoft.com/office/drawing/2014/main" id="{D4B75B62-F0F5-41DB-A8D7-17AF741E76B6}"/>
              </a:ext>
            </a:extLst>
          </p:cNvPr>
          <p:cNvSpPr>
            <a:spLocks xmlns:a="http://schemas.openxmlformats.org/drawingml/2006/main" noGrp="1"/>
          </p:cNvSpPr>
          <p:nvPr/>
        </p:nvSpPr>
        <p:spPr>
          <a:xfrm xmlns:a="http://schemas.openxmlformats.org/drawingml/2006/main">
            <a:off x="6610350" y="3219450"/>
            <a:ext cx="400050" cy="28575"/>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BDA2EF7-16D7-422F-B65C-CDBE7EB5B210}"/>
              </a:ext>
            </a:extLst>
          </p:cNvPr>
          <p:cNvSpPr>
            <a:spLocks xmlns:a="http://schemas.openxmlformats.org/drawingml/2006/main" noGrp="1"/>
          </p:cNvSpPr>
          <p:nvPr/>
        </p:nvSpPr>
        <p:spPr>
          <a:xfrm xmlns:a="http://schemas.openxmlformats.org/drawingml/2006/main">
            <a:off x="6991350" y="3171825"/>
            <a:ext cx="11430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8AD604B-D9EA-4CAC-943B-FC1740AA5102}"/>
              </a:ext>
            </a:extLst>
          </p:cNvPr>
          <p:cNvSpPr>
            <a:spLocks xmlns:a="http://schemas.openxmlformats.org/drawingml/2006/main" noGrp="1"/>
          </p:cNvSpPr>
          <p:nvPr/>
        </p:nvSpPr>
        <p:spPr>
          <a:xfrm xmlns:a="http://schemas.openxmlformats.org/drawingml/2006/main">
            <a:off x="7181850" y="2781300"/>
            <a:ext cx="1428750" cy="876300"/>
          </a:xfrm>
          <a:prstGeom xmlns:a="http://schemas.openxmlformats.org/drawingml/2006/main" prst="rect">
            <a:avLst/>
          </a:prstGeom>
          <a:solidFill xmlns:a="http://schemas.openxmlformats.org/drawingml/2006/main">
            <a:srgbClr val="8E2D22"/>
          </a:solidFill>
          <a:ln xmlns:a="http://schemas.openxmlformats.org/drawingml/2006/main" w="19050">
            <a:solidFill>
              <a:srgbClr val="8E2D22"/>
            </a:solidFill>
            <a:prstDash val="solid"/>
          </a:ln>
        </p:spPr>
      </p:sp>
      <p:sp>
        <p:nvSpPr>
          <p:cNvPr id="22" name="">
            <a:extLst xmlns:a="http://schemas.openxmlformats.org/drawingml/2006/main">
              <a:ext uri="{FF2B5EF4-FFF2-40B4-BE49-F238E27FC236}">
                <a16:creationId xmlns:a16="http://schemas.microsoft.com/office/drawing/2014/main" id="{9A2B583A-A101-4D88-A8EB-1D9085FD1B92}"/>
              </a:ext>
            </a:extLst>
          </p:cNvPr>
          <p:cNvSpPr>
            <a:spLocks xmlns:a="http://schemas.openxmlformats.org/drawingml/2006/main" noGrp="1"/>
          </p:cNvSpPr>
          <p:nvPr/>
        </p:nvSpPr>
        <p:spPr>
          <a:xfrm xmlns:a="http://schemas.openxmlformats.org/drawingml/2006/main">
            <a:off x="71818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Georgia"/>
                <a:ea typeface="Georgia"/>
                <a:cs typeface="Georgia"/>
              </a:defRPr>
            </a:pPr>
            <a:r>
              <a:rPr sz="2100" b="1">
                <a:solidFill>
                  <a:srgbClr val="FFFFFF"/>
                </a:solidFill>
                <a:latin typeface="Georgia"/>
                <a:ea typeface="Georgia"/>
                <a:cs typeface="Georgia"/>
              </a:rPr>
              <a:t>H'</a:t>
            </a:r>
          </a:p>
        </p:txBody>
      </p:sp>
      <p:sp>
        <p:nvSpPr>
          <p:cNvPr id="23" name="">
            <a:extLst xmlns:a="http://schemas.openxmlformats.org/drawingml/2006/main">
              <a:ext uri="{FF2B5EF4-FFF2-40B4-BE49-F238E27FC236}">
                <a16:creationId xmlns:a16="http://schemas.microsoft.com/office/drawing/2014/main" id="{DA39BD39-9A25-4D68-A3D3-2F80BA558329}"/>
              </a:ext>
            </a:extLst>
          </p:cNvPr>
          <p:cNvSpPr>
            <a:spLocks xmlns:a="http://schemas.openxmlformats.org/drawingml/2006/main" noGrp="1"/>
          </p:cNvSpPr>
          <p:nvPr/>
        </p:nvSpPr>
        <p:spPr>
          <a:xfrm xmlns:a="http://schemas.openxmlformats.org/drawingml/2006/main">
            <a:off x="7277100" y="329565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F6EFD8"/>
                </a:solidFill>
                <a:latin typeface="Avenir Next"/>
                <a:ea typeface="Avenir Next"/>
                <a:cs typeface="Avenir Next"/>
              </a:defRPr>
            </a:pPr>
            <a:r>
              <a:rPr sz="713" b="1">
                <a:solidFill>
                  <a:srgbClr val="F6EFD8"/>
                </a:solidFill>
                <a:latin typeface="Avenir Next"/>
                <a:ea typeface="Avenir Next"/>
                <a:cs typeface="Avenir Next"/>
              </a:rPr>
              <a:t>3 tòa tháp hoàn thành</a:t>
            </a:r>
          </a:p>
        </p:txBody>
      </p:sp>
      <p:sp>
        <p:nvSpPr>
          <p:cNvPr id="24" name="">
            <a:extLst xmlns:a="http://schemas.openxmlformats.org/drawingml/2006/main">
              <a:ext uri="{FF2B5EF4-FFF2-40B4-BE49-F238E27FC236}">
                <a16:creationId xmlns:a16="http://schemas.microsoft.com/office/drawing/2014/main" id="{7DE65369-4AB4-4205-8407-C67518606EDC}"/>
              </a:ext>
            </a:extLst>
          </p:cNvPr>
          <p:cNvSpPr>
            <a:spLocks xmlns:a="http://schemas.openxmlformats.org/drawingml/2006/main" noGrp="1"/>
          </p:cNvSpPr>
          <p:nvPr/>
        </p:nvSpPr>
        <p:spPr>
          <a:xfrm xmlns:a="http://schemas.openxmlformats.org/drawingml/2006/main">
            <a:off x="8705850" y="3219450"/>
            <a:ext cx="400050" cy="28575"/>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B7A445D3-392D-4BB3-83F7-F57A2CD2EBFE}"/>
              </a:ext>
            </a:extLst>
          </p:cNvPr>
          <p:cNvSpPr>
            <a:spLocks xmlns:a="http://schemas.openxmlformats.org/drawingml/2006/main" noGrp="1"/>
          </p:cNvSpPr>
          <p:nvPr/>
        </p:nvSpPr>
        <p:spPr>
          <a:xfrm xmlns:a="http://schemas.openxmlformats.org/drawingml/2006/main">
            <a:off x="9086850" y="3171825"/>
            <a:ext cx="114300" cy="952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0E975A4-83E1-459A-936A-844147698136}"/>
              </a:ext>
            </a:extLst>
          </p:cNvPr>
          <p:cNvSpPr>
            <a:spLocks xmlns:a="http://schemas.openxmlformats.org/drawingml/2006/main" noGrp="1"/>
          </p:cNvSpPr>
          <p:nvPr/>
        </p:nvSpPr>
        <p:spPr>
          <a:xfrm xmlns:a="http://schemas.openxmlformats.org/drawingml/2006/main">
            <a:off x="9277350" y="2781300"/>
            <a:ext cx="1428750" cy="876300"/>
          </a:xfrm>
          <a:prstGeom xmlns:a="http://schemas.openxmlformats.org/drawingml/2006/main" prst="rect">
            <a:avLst/>
          </a:prstGeom>
          <a:solidFill xmlns:a="http://schemas.openxmlformats.org/drawingml/2006/main">
            <a:srgbClr val="FFF8E6"/>
          </a:solidFill>
          <a:ln xmlns:a="http://schemas.openxmlformats.org/drawingml/2006/main" w="19050">
            <a:solidFill>
              <a:srgbClr val="1F7A75"/>
            </a:solidFill>
            <a:prstDash val="solid"/>
          </a:ln>
        </p:spPr>
      </p:sp>
      <p:sp>
        <p:nvSpPr>
          <p:cNvPr id="27" name="">
            <a:extLst xmlns:a="http://schemas.openxmlformats.org/drawingml/2006/main">
              <a:ext uri="{FF2B5EF4-FFF2-40B4-BE49-F238E27FC236}">
                <a16:creationId xmlns:a16="http://schemas.microsoft.com/office/drawing/2014/main" id="{4439FDBE-104B-4F1E-807D-5561CC3B40AB}"/>
              </a:ext>
            </a:extLst>
          </p:cNvPr>
          <p:cNvSpPr>
            <a:spLocks xmlns:a="http://schemas.openxmlformats.org/drawingml/2006/main" noGrp="1"/>
          </p:cNvSpPr>
          <p:nvPr/>
        </p:nvSpPr>
        <p:spPr>
          <a:xfrm xmlns:a="http://schemas.openxmlformats.org/drawingml/2006/main">
            <a:off x="9277350" y="2895600"/>
            <a:ext cx="1428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7A75"/>
                </a:solidFill>
                <a:latin typeface="Georgia"/>
                <a:ea typeface="Georgia"/>
                <a:cs typeface="Georgia"/>
              </a:defRPr>
            </a:pPr>
            <a:r>
              <a:rPr sz="2100" b="1">
                <a:solidFill>
                  <a:srgbClr val="1F7A75"/>
                </a:solidFill>
                <a:latin typeface="Georgia"/>
                <a:ea typeface="Georgia"/>
                <a:cs typeface="Georgia"/>
              </a:rPr>
              <a:t>T'</a:t>
            </a:r>
          </a:p>
        </p:txBody>
      </p:sp>
      <p:sp>
        <p:nvSpPr>
          <p:cNvPr id="28" name="">
            <a:extLst xmlns:a="http://schemas.openxmlformats.org/drawingml/2006/main">
              <a:ext uri="{FF2B5EF4-FFF2-40B4-BE49-F238E27FC236}">
                <a16:creationId xmlns:a16="http://schemas.microsoft.com/office/drawing/2014/main" id="{F24F8542-16F1-4530-9F03-572C42466790}"/>
              </a:ext>
            </a:extLst>
          </p:cNvPr>
          <p:cNvSpPr>
            <a:spLocks xmlns:a="http://schemas.openxmlformats.org/drawingml/2006/main" noGrp="1"/>
          </p:cNvSpPr>
          <p:nvPr/>
        </p:nvSpPr>
        <p:spPr>
          <a:xfrm xmlns:a="http://schemas.openxmlformats.org/drawingml/2006/main">
            <a:off x="9372600" y="3295650"/>
            <a:ext cx="1238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A5D4F"/>
                </a:solidFill>
                <a:latin typeface="Avenir Next"/>
                <a:ea typeface="Avenir Next"/>
                <a:cs typeface="Avenir Next"/>
              </a:defRPr>
            </a:pPr>
            <a:r>
              <a:rPr sz="713" b="0">
                <a:solidFill>
                  <a:srgbClr val="6A5D4F"/>
                </a:solidFill>
                <a:latin typeface="Avenir Next"/>
                <a:ea typeface="Avenir Next"/>
                <a:cs typeface="Avenir Next"/>
              </a:rPr>
              <a:t>tiền bán nhà</a:t>
            </a:r>
          </a:p>
        </p:txBody>
      </p:sp>
      <p:sp>
        <p:nvSpPr>
          <p:cNvPr id="29" name="">
            <a:extLst xmlns:a="http://schemas.openxmlformats.org/drawingml/2006/main">
              <a:ext uri="{FF2B5EF4-FFF2-40B4-BE49-F238E27FC236}">
                <a16:creationId xmlns:a16="http://schemas.microsoft.com/office/drawing/2014/main" id="{D1319CB9-0071-4F7F-BC70-9742F01CB85C}"/>
              </a:ext>
            </a:extLst>
          </p:cNvPr>
          <p:cNvSpPr>
            <a:spLocks xmlns:a="http://schemas.openxmlformats.org/drawingml/2006/main" noGrp="1"/>
          </p:cNvSpPr>
          <p:nvPr/>
        </p:nvSpPr>
        <p:spPr>
          <a:xfrm xmlns:a="http://schemas.openxmlformats.org/drawingml/2006/main">
            <a:off x="7239000" y="2190750"/>
            <a:ext cx="2419350" cy="2000250"/>
          </a:xfrm>
          <a:prstGeom xmlns:a="http://schemas.openxmlformats.org/drawingml/2006/main" prst="rect">
            <a:avLst/>
          </a:prstGeom>
          <a:solidFill xmlns:a="http://schemas.openxmlformats.org/drawingml/2006/main">
            <a:srgbClr val="000000">
              <a:alpha val="0"/>
            </a:srgbClr>
          </a:solidFill>
          <a:ln xmlns:a="http://schemas.openxmlformats.org/drawingml/2006/main" w="28575">
            <a:solidFill>
              <a:srgbClr val="8E2D22"/>
            </a:solidFill>
            <a:prstDash val="solid"/>
          </a:ln>
        </p:spPr>
      </p:sp>
      <p:sp>
        <p:nvSpPr>
          <p:cNvPr id="30" name="">
            <a:extLst xmlns:a="http://schemas.openxmlformats.org/drawingml/2006/main">
              <a:ext uri="{FF2B5EF4-FFF2-40B4-BE49-F238E27FC236}">
                <a16:creationId xmlns:a16="http://schemas.microsoft.com/office/drawing/2014/main" id="{C2B4EFAE-0462-4DD8-AE33-A47A1DFF298B}"/>
              </a:ext>
            </a:extLst>
          </p:cNvPr>
          <p:cNvSpPr>
            <a:spLocks xmlns:a="http://schemas.openxmlformats.org/drawingml/2006/main" noGrp="1"/>
          </p:cNvSpPr>
          <p:nvPr/>
        </p:nvSpPr>
        <p:spPr>
          <a:xfrm xmlns:a="http://schemas.openxmlformats.org/drawingml/2006/main">
            <a:off x="7715250" y="23241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8E2D22"/>
                </a:solidFill>
                <a:latin typeface="Avenir Next"/>
                <a:ea typeface="Avenir Next"/>
                <a:cs typeface="Avenir Next"/>
              </a:defRPr>
            </a:pPr>
            <a:r>
              <a:rPr sz="1125" b="1">
                <a:solidFill>
                  <a:srgbClr val="8E2D22"/>
                </a:solidFill>
                <a:latin typeface="Avenir Next"/>
                <a:ea typeface="Avenir Next"/>
                <a:cs typeface="Avenir Next"/>
              </a:rPr>
              <a:t>Nghẽn ở đây</a:t>
            </a:r>
          </a:p>
        </p:txBody>
      </p:sp>
      <p:sp>
        <p:nvSpPr>
          <p:cNvPr id="31" name="">
            <a:extLst xmlns:a="http://schemas.openxmlformats.org/drawingml/2006/main">
              <a:ext uri="{FF2B5EF4-FFF2-40B4-BE49-F238E27FC236}">
                <a16:creationId xmlns:a16="http://schemas.microsoft.com/office/drawing/2014/main" id="{C05F435E-4D20-44B9-83E2-2D2C3B18C2E2}"/>
              </a:ext>
            </a:extLst>
          </p:cNvPr>
          <p:cNvSpPr>
            <a:spLocks xmlns:a="http://schemas.openxmlformats.org/drawingml/2006/main" noGrp="1"/>
          </p:cNvSpPr>
          <p:nvPr/>
        </p:nvSpPr>
        <p:spPr>
          <a:xfrm xmlns:a="http://schemas.openxmlformats.org/drawingml/2006/main">
            <a:off x="914400" y="4610100"/>
            <a:ext cx="4648200" cy="876300"/>
          </a:xfrm>
          <a:prstGeom xmlns:a="http://schemas.openxmlformats.org/drawingml/2006/main" prst="rect">
            <a:avLst/>
          </a:prstGeom>
          <a:solidFill xmlns:a="http://schemas.openxmlformats.org/drawingml/2006/main">
            <a:srgbClr val="EBD3C3"/>
          </a:solidFill>
          <a:ln xmlns:a="http://schemas.openxmlformats.org/drawingml/2006/main" w="9525">
            <a:solidFill>
              <a:srgbClr val="B75D32"/>
            </a:solidFill>
            <a:prstDash val="solid"/>
          </a:ln>
        </p:spPr>
      </p:sp>
      <p:sp>
        <p:nvSpPr>
          <p:cNvPr id="32" name="">
            <a:extLst xmlns:a="http://schemas.openxmlformats.org/drawingml/2006/main">
              <a:ext uri="{FF2B5EF4-FFF2-40B4-BE49-F238E27FC236}">
                <a16:creationId xmlns:a16="http://schemas.microsoft.com/office/drawing/2014/main" id="{45B1C808-5BD3-4DAD-AEAA-48BDAACEA31E}"/>
              </a:ext>
            </a:extLst>
          </p:cNvPr>
          <p:cNvSpPr>
            <a:spLocks xmlns:a="http://schemas.openxmlformats.org/drawingml/2006/main" noGrp="1"/>
          </p:cNvSpPr>
          <p:nvPr/>
        </p:nvSpPr>
        <p:spPr>
          <a:xfrm xmlns:a="http://schemas.openxmlformats.org/drawingml/2006/main">
            <a:off x="1181100" y="483870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75D32"/>
                </a:solidFill>
                <a:latin typeface="Avenir Next"/>
                <a:ea typeface="Avenir Next"/>
                <a:cs typeface="Avenir Next"/>
              </a:defRPr>
            </a:pPr>
            <a:r>
              <a:rPr sz="1200" b="1">
                <a:solidFill>
                  <a:srgbClr val="B75D32"/>
                </a:solidFill>
                <a:latin typeface="Avenir Next"/>
                <a:ea typeface="Avenir Next"/>
                <a:cs typeface="Avenir Next"/>
              </a:rPr>
              <a:t>Không phải kẹt ở T</a:t>
            </a:r>
          </a:p>
        </p:txBody>
      </p:sp>
      <p:sp>
        <p:nvSpPr>
          <p:cNvPr id="33" name="">
            <a:extLst xmlns:a="http://schemas.openxmlformats.org/drawingml/2006/main">
              <a:ext uri="{FF2B5EF4-FFF2-40B4-BE49-F238E27FC236}">
                <a16:creationId xmlns:a16="http://schemas.microsoft.com/office/drawing/2014/main" id="{26540C90-50AD-4B6B-B365-9D7E2E7F6D30}"/>
              </a:ext>
            </a:extLst>
          </p:cNvPr>
          <p:cNvSpPr>
            <a:spLocks xmlns:a="http://schemas.openxmlformats.org/drawingml/2006/main" noGrp="1"/>
          </p:cNvSpPr>
          <p:nvPr/>
        </p:nvSpPr>
        <p:spPr>
          <a:xfrm xmlns:a="http://schemas.openxmlformats.org/drawingml/2006/main">
            <a:off x="1181100" y="51244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F1A14"/>
                </a:solidFill>
                <a:latin typeface="Avenir Next"/>
                <a:ea typeface="Avenir Next"/>
                <a:cs typeface="Avenir Next"/>
              </a:defRPr>
            </a:pPr>
            <a:r>
              <a:rPr sz="938" b="0">
                <a:solidFill>
                  <a:srgbClr val="1F1A14"/>
                </a:solidFill>
                <a:latin typeface="Avenir Next"/>
                <a:ea typeface="Avenir Next"/>
                <a:cs typeface="Avenir Next"/>
              </a:rPr>
              <a:t>Vì tiền đã chuyển thành đất, vật liệu, lao động và công trình.</a:t>
            </a:r>
          </a:p>
        </p:txBody>
      </p:sp>
      <p:sp>
        <p:nvSpPr>
          <p:cNvPr id="34" name="">
            <a:extLst xmlns:a="http://schemas.openxmlformats.org/drawingml/2006/main">
              <a:ext uri="{FF2B5EF4-FFF2-40B4-BE49-F238E27FC236}">
                <a16:creationId xmlns:a16="http://schemas.microsoft.com/office/drawing/2014/main" id="{A7515845-AB43-4B06-95A2-EB8CB0D65B7A}"/>
              </a:ext>
            </a:extLst>
          </p:cNvPr>
          <p:cNvSpPr>
            <a:spLocks xmlns:a="http://schemas.openxmlformats.org/drawingml/2006/main" noGrp="1"/>
          </p:cNvSpPr>
          <p:nvPr/>
        </p:nvSpPr>
        <p:spPr>
          <a:xfrm xmlns:a="http://schemas.openxmlformats.org/drawingml/2006/main">
            <a:off x="6191250" y="4610100"/>
            <a:ext cx="4648200" cy="876300"/>
          </a:xfrm>
          <a:prstGeom xmlns:a="http://schemas.openxmlformats.org/drawingml/2006/main" prst="rect">
            <a:avLst/>
          </a:prstGeom>
          <a:solidFill xmlns:a="http://schemas.openxmlformats.org/drawingml/2006/main">
            <a:srgbClr val="CFE4E1"/>
          </a:solidFill>
          <a:ln xmlns:a="http://schemas.openxmlformats.org/drawingml/2006/main" w="9525">
            <a:solidFill>
              <a:srgbClr val="1F7A75"/>
            </a:solidFill>
            <a:prstDash val="solid"/>
          </a:ln>
        </p:spPr>
      </p:sp>
      <p:sp>
        <p:nvSpPr>
          <p:cNvPr id="35" name="">
            <a:extLst xmlns:a="http://schemas.openxmlformats.org/drawingml/2006/main">
              <a:ext uri="{FF2B5EF4-FFF2-40B4-BE49-F238E27FC236}">
                <a16:creationId xmlns:a16="http://schemas.microsoft.com/office/drawing/2014/main" id="{E63E0BBB-2ABA-4599-AF8C-6E4ED39D0EBA}"/>
              </a:ext>
            </a:extLst>
          </p:cNvPr>
          <p:cNvSpPr>
            <a:spLocks xmlns:a="http://schemas.openxmlformats.org/drawingml/2006/main" noGrp="1"/>
          </p:cNvSpPr>
          <p:nvPr/>
        </p:nvSpPr>
        <p:spPr>
          <a:xfrm xmlns:a="http://schemas.openxmlformats.org/drawingml/2006/main">
            <a:off x="6457950" y="4838700"/>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F7A75"/>
                </a:solidFill>
                <a:latin typeface="Avenir Next"/>
                <a:ea typeface="Avenir Next"/>
                <a:cs typeface="Avenir Next"/>
              </a:defRPr>
            </a:pPr>
            <a:r>
              <a:rPr sz="1200" b="1">
                <a:solidFill>
                  <a:srgbClr val="1F7A75"/>
                </a:solidFill>
                <a:latin typeface="Avenir Next"/>
                <a:ea typeface="Avenir Next"/>
                <a:cs typeface="Avenir Next"/>
              </a:rPr>
              <a:t>Không phải kẹt ở SX</a:t>
            </a:r>
          </a:p>
        </p:txBody>
      </p:sp>
      <p:sp>
        <p:nvSpPr>
          <p:cNvPr id="36" name="">
            <a:extLst xmlns:a="http://schemas.openxmlformats.org/drawingml/2006/main">
              <a:ext uri="{FF2B5EF4-FFF2-40B4-BE49-F238E27FC236}">
                <a16:creationId xmlns:a16="http://schemas.microsoft.com/office/drawing/2014/main" id="{3077E227-A9C2-4156-A059-14C69832CE2F}"/>
              </a:ext>
            </a:extLst>
          </p:cNvPr>
          <p:cNvSpPr>
            <a:spLocks xmlns:a="http://schemas.openxmlformats.org/drawingml/2006/main" noGrp="1"/>
          </p:cNvSpPr>
          <p:nvPr/>
        </p:nvSpPr>
        <p:spPr>
          <a:xfrm xmlns:a="http://schemas.openxmlformats.org/drawingml/2006/main">
            <a:off x="6457950" y="50863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F1A14"/>
                </a:solidFill>
                <a:latin typeface="Avenir Next"/>
                <a:ea typeface="Avenir Next"/>
                <a:cs typeface="Avenir Next"/>
              </a:defRPr>
            </a:pPr>
            <a:r>
              <a:rPr sz="938" b="0">
                <a:solidFill>
                  <a:srgbClr val="1F1A14"/>
                </a:solidFill>
                <a:latin typeface="Avenir Next"/>
                <a:ea typeface="Avenir Next"/>
                <a:cs typeface="Avenir Next"/>
              </a:rPr>
              <a:t>Vì giai đoạn sản xuất đã tạo ra sản phẩm nhà ở hoàn chỉnh về mặt vật chất.</a:t>
            </a:r>
          </a:p>
        </p:txBody>
      </p:sp>
      <p:sp>
        <p:nvSpPr>
          <p:cNvPr id="37" name="">
            <a:extLst xmlns:a="http://schemas.openxmlformats.org/drawingml/2006/main">
              <a:ext uri="{FF2B5EF4-FFF2-40B4-BE49-F238E27FC236}">
                <a16:creationId xmlns:a16="http://schemas.microsoft.com/office/drawing/2014/main" id="{A4C202F1-A2DF-4E7E-ABA4-8381926B2D9C}"/>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1EBAB94D-1AC8-4B94-B639-DFA7C2633C53}"/>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Nguồn: tình huống Alpha Corp giả định trong đề bài</a:t>
            </a:r>
          </a:p>
        </p:txBody>
      </p:sp>
      <p:sp>
        <p:nvSpPr>
          <p:cNvPr id="39" name="">
            <a:extLst xmlns:a="http://schemas.openxmlformats.org/drawingml/2006/main">
              <a:ext uri="{FF2B5EF4-FFF2-40B4-BE49-F238E27FC236}">
                <a16:creationId xmlns:a16="http://schemas.microsoft.com/office/drawing/2014/main" id="{3024B71E-63EF-4550-B410-59632E020C9A}"/>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04</a:t>
            </a:r>
          </a:p>
        </p:txBody>
      </p:sp>
    </p:spTree>
    <p:extLst>
      <p:ext uri="{BB962C8B-B14F-4D97-AF65-F5344CB8AC3E}">
        <p14:creationId xmlns:p14="http://schemas.microsoft.com/office/powerpoint/2010/main" val="42211315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BDFFA5-3E5B-483E-ACA4-0038960902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A6AA9D5-5430-48B4-AE02-535841A38FF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DBDE0267-E4C5-4197-82AA-CDBD272C8590}"/>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ED6352C3-7F09-4612-8AC0-BDF42CA25AA8}"/>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ĐIỀU KIỆN KHÔNG GIAN</a:t>
            </a:r>
          </a:p>
        </p:txBody>
      </p:sp>
      <p:sp>
        <p:nvSpPr>
          <p:cNvPr id="5" name="">
            <a:extLst xmlns:a="http://schemas.openxmlformats.org/drawingml/2006/main">
              <a:ext uri="{FF2B5EF4-FFF2-40B4-BE49-F238E27FC236}">
                <a16:creationId xmlns:a16="http://schemas.microsoft.com/office/drawing/2014/main" id="{F4C584E2-5D20-4F95-A1E6-ACA48CBA3DE5}"/>
              </a:ext>
            </a:extLst>
          </p:cNvPr>
          <p:cNvSpPr>
            <a:spLocks xmlns:a="http://schemas.openxmlformats.org/drawingml/2006/main" noGrp="1"/>
          </p:cNvSpPr>
          <p:nvPr/>
        </p:nvSpPr>
        <p:spPr>
          <a:xfrm xmlns:a="http://schemas.openxmlformats.org/drawingml/2006/main">
            <a:off x="552450" y="742950"/>
            <a:ext cx="8572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Tư bản phải đồng thời tồn tại ở ba hình thái để dòng tuần hoàn không đứt.</a:t>
            </a:r>
          </a:p>
        </p:txBody>
      </p:sp>
      <p:sp>
        <p:nvSpPr>
          <p:cNvPr id="6" name="">
            <a:extLst xmlns:a="http://schemas.openxmlformats.org/drawingml/2006/main">
              <a:ext uri="{FF2B5EF4-FFF2-40B4-BE49-F238E27FC236}">
                <a16:creationId xmlns:a16="http://schemas.microsoft.com/office/drawing/2014/main" id="{4A68504A-1360-438A-8961-9CB54CDABF23}"/>
              </a:ext>
            </a:extLst>
          </p:cNvPr>
          <p:cNvSpPr>
            <a:spLocks xmlns:a="http://schemas.openxmlformats.org/drawingml/2006/main" noGrp="1"/>
          </p:cNvSpPr>
          <p:nvPr/>
        </p:nvSpPr>
        <p:spPr>
          <a:xfrm xmlns:a="http://schemas.openxmlformats.org/drawingml/2006/main">
            <a:off x="571500" y="179070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A5D4F"/>
                </a:solidFill>
                <a:latin typeface="Avenir Next"/>
                <a:ea typeface="Avenir Next"/>
                <a:cs typeface="Avenir Next"/>
              </a:defRPr>
            </a:pPr>
            <a:r>
              <a:rPr sz="1125" b="0">
                <a:solidFill>
                  <a:srgbClr val="6A5D4F"/>
                </a:solidFill>
                <a:latin typeface="Avenir Next"/>
                <a:ea typeface="Avenir Next"/>
                <a:cs typeface="Avenir Next"/>
              </a:rPr>
              <a:t>Một doanh nghiệp không thể dồn toàn bộ vốn vào hàng hóa tồn kho. Nó cần tiền để thanh toán, tư liệu sản xuất để tiếp tục thi công, và hàng hóa để bán.</a:t>
            </a:r>
          </a:p>
        </p:txBody>
      </p:sp>
      <p:sp>
        <p:nvSpPr>
          <p:cNvPr id="7" name="">
            <a:extLst xmlns:a="http://schemas.openxmlformats.org/drawingml/2006/main">
              <a:ext uri="{FF2B5EF4-FFF2-40B4-BE49-F238E27FC236}">
                <a16:creationId xmlns:a16="http://schemas.microsoft.com/office/drawing/2014/main" id="{10190900-212F-4381-9CAE-A3CEEAF53E89}"/>
              </a:ext>
            </a:extLst>
          </p:cNvPr>
          <p:cNvSpPr>
            <a:spLocks xmlns:a="http://schemas.openxmlformats.org/drawingml/2006/main" noGrp="1"/>
          </p:cNvSpPr>
          <p:nvPr/>
        </p:nvSpPr>
        <p:spPr>
          <a:xfrm xmlns:a="http://schemas.openxmlformats.org/drawingml/2006/main">
            <a:off x="762000" y="2781300"/>
            <a:ext cx="2857500" cy="2190750"/>
          </a:xfrm>
          <a:prstGeom xmlns:a="http://schemas.openxmlformats.org/drawingml/2006/main" prst="rect">
            <a:avLst/>
          </a:prstGeom>
          <a:solidFill xmlns:a="http://schemas.openxmlformats.org/drawingml/2006/main">
            <a:srgbClr val="FFF8E6"/>
          </a:solidFill>
          <a:ln xmlns:a="http://schemas.openxmlformats.org/drawingml/2006/main" w="19050">
            <a:solidFill>
              <a:srgbClr val="1F7A75"/>
            </a:solidFill>
            <a:prstDash val="solid"/>
          </a:ln>
        </p:spPr>
      </p:sp>
      <p:sp>
        <p:nvSpPr>
          <p:cNvPr id="8" name="">
            <a:extLst xmlns:a="http://schemas.openxmlformats.org/drawingml/2006/main">
              <a:ext uri="{FF2B5EF4-FFF2-40B4-BE49-F238E27FC236}">
                <a16:creationId xmlns:a16="http://schemas.microsoft.com/office/drawing/2014/main" id="{9EB75896-CC1D-4F14-8A4C-148C60099FD7}"/>
              </a:ext>
            </a:extLst>
          </p:cNvPr>
          <p:cNvSpPr>
            <a:spLocks xmlns:a="http://schemas.openxmlformats.org/drawingml/2006/main" noGrp="1"/>
          </p:cNvSpPr>
          <p:nvPr/>
        </p:nvSpPr>
        <p:spPr>
          <a:xfrm xmlns:a="http://schemas.openxmlformats.org/drawingml/2006/main">
            <a:off x="762000" y="2781300"/>
            <a:ext cx="2857500" cy="514350"/>
          </a:xfrm>
          <a:prstGeom xmlns:a="http://schemas.openxmlformats.org/drawingml/2006/main" prst="rect">
            <a:avLst/>
          </a:prstGeom>
          <a:solidFill xmlns:a="http://schemas.openxmlformats.org/drawingml/2006/main">
            <a:srgbClr val="CFE4E1"/>
          </a:solidFill>
          <a:ln xmlns:a="http://schemas.openxmlformats.org/drawingml/2006/main" w="0">
            <a:solidFill>
              <a:srgbClr val="1F7A75"/>
            </a:solidFill>
            <a:prstDash val="solid"/>
          </a:ln>
        </p:spPr>
      </p:sp>
      <p:sp>
        <p:nvSpPr>
          <p:cNvPr id="9" name="">
            <a:extLst xmlns:a="http://schemas.openxmlformats.org/drawingml/2006/main">
              <a:ext uri="{FF2B5EF4-FFF2-40B4-BE49-F238E27FC236}">
                <a16:creationId xmlns:a16="http://schemas.microsoft.com/office/drawing/2014/main" id="{6CA450CB-DA60-4A2C-9F0F-50887E15CC3C}"/>
              </a:ext>
            </a:extLst>
          </p:cNvPr>
          <p:cNvSpPr>
            <a:spLocks xmlns:a="http://schemas.openxmlformats.org/drawingml/2006/main" noGrp="1"/>
          </p:cNvSpPr>
          <p:nvPr/>
        </p:nvSpPr>
        <p:spPr>
          <a:xfrm xmlns:a="http://schemas.openxmlformats.org/drawingml/2006/main">
            <a:off x="971550" y="2952750"/>
            <a:ext cx="2438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Tư bản tiền tệ</a:t>
            </a:r>
          </a:p>
        </p:txBody>
      </p:sp>
      <p:sp>
        <p:nvSpPr>
          <p:cNvPr id="10" name="">
            <a:extLst xmlns:a="http://schemas.openxmlformats.org/drawingml/2006/main">
              <a:ext uri="{FF2B5EF4-FFF2-40B4-BE49-F238E27FC236}">
                <a16:creationId xmlns:a16="http://schemas.microsoft.com/office/drawing/2014/main" id="{40AEB938-175A-4407-B8D8-ED7C38B92350}"/>
              </a:ext>
            </a:extLst>
          </p:cNvPr>
          <p:cNvSpPr>
            <a:spLocks xmlns:a="http://schemas.openxmlformats.org/drawingml/2006/main" noGrp="1"/>
          </p:cNvSpPr>
          <p:nvPr/>
        </p:nvSpPr>
        <p:spPr>
          <a:xfrm xmlns:a="http://schemas.openxmlformats.org/drawingml/2006/main">
            <a:off x="990600" y="3562350"/>
            <a:ext cx="24003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F7A75"/>
                </a:solidFill>
                <a:latin typeface="Georgia"/>
                <a:ea typeface="Georgia"/>
                <a:cs typeface="Georgia"/>
              </a:defRPr>
            </a:pPr>
            <a:r>
              <a:rPr sz="1500" b="1">
                <a:solidFill>
                  <a:srgbClr val="1F7A75"/>
                </a:solidFill>
                <a:latin typeface="Georgia"/>
                <a:ea typeface="Georgia"/>
                <a:cs typeface="Georgia"/>
              </a:rPr>
              <a:t>Tiền mặt / tín dụng</a:t>
            </a:r>
          </a:p>
        </p:txBody>
      </p:sp>
      <p:sp>
        <p:nvSpPr>
          <p:cNvPr id="11" name="">
            <a:extLst xmlns:a="http://schemas.openxmlformats.org/drawingml/2006/main">
              <a:ext uri="{FF2B5EF4-FFF2-40B4-BE49-F238E27FC236}">
                <a16:creationId xmlns:a16="http://schemas.microsoft.com/office/drawing/2014/main" id="{D978B944-1341-47BF-A5D9-07BBE68A9098}"/>
              </a:ext>
            </a:extLst>
          </p:cNvPr>
          <p:cNvSpPr>
            <a:spLocks xmlns:a="http://schemas.openxmlformats.org/drawingml/2006/main" noGrp="1"/>
          </p:cNvSpPr>
          <p:nvPr/>
        </p:nvSpPr>
        <p:spPr>
          <a:xfrm xmlns:a="http://schemas.openxmlformats.org/drawingml/2006/main">
            <a:off x="1219200" y="4114800"/>
            <a:ext cx="1943100" cy="1905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0C98284-EA0D-491C-AC92-5CDB22AB2696}"/>
              </a:ext>
            </a:extLst>
          </p:cNvPr>
          <p:cNvSpPr>
            <a:spLocks xmlns:a="http://schemas.openxmlformats.org/drawingml/2006/main" noGrp="1"/>
          </p:cNvSpPr>
          <p:nvPr/>
        </p:nvSpPr>
        <p:spPr>
          <a:xfrm xmlns:a="http://schemas.openxmlformats.org/drawingml/2006/main">
            <a:off x="1085850" y="4400550"/>
            <a:ext cx="2209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A5D4F"/>
                </a:solidFill>
                <a:latin typeface="Avenir Next"/>
                <a:ea typeface="Avenir Next"/>
                <a:cs typeface="Avenir Next"/>
              </a:defRPr>
            </a:pPr>
            <a:r>
              <a:rPr sz="975" b="0">
                <a:solidFill>
                  <a:srgbClr val="6A5D4F"/>
                </a:solidFill>
                <a:latin typeface="Avenir Next"/>
                <a:ea typeface="Avenir Next"/>
                <a:cs typeface="Avenir Next"/>
              </a:rPr>
              <a:t>Trả nợ ngân hàng, trả lương, mua vật tư mới</a:t>
            </a:r>
          </a:p>
        </p:txBody>
      </p:sp>
      <p:sp>
        <p:nvSpPr>
          <p:cNvPr id="13" name="">
            <a:extLst xmlns:a="http://schemas.openxmlformats.org/drawingml/2006/main">
              <a:ext uri="{FF2B5EF4-FFF2-40B4-BE49-F238E27FC236}">
                <a16:creationId xmlns:a16="http://schemas.microsoft.com/office/drawing/2014/main" id="{1D93D27B-F204-408A-88D1-FB3F5DEA2CBB}"/>
              </a:ext>
            </a:extLst>
          </p:cNvPr>
          <p:cNvSpPr>
            <a:spLocks xmlns:a="http://schemas.openxmlformats.org/drawingml/2006/main" noGrp="1"/>
          </p:cNvSpPr>
          <p:nvPr/>
        </p:nvSpPr>
        <p:spPr>
          <a:xfrm xmlns:a="http://schemas.openxmlformats.org/drawingml/2006/main">
            <a:off x="4286250" y="2781300"/>
            <a:ext cx="2857500" cy="2190750"/>
          </a:xfrm>
          <a:prstGeom xmlns:a="http://schemas.openxmlformats.org/drawingml/2006/main" prst="rect">
            <a:avLst/>
          </a:prstGeom>
          <a:solidFill xmlns:a="http://schemas.openxmlformats.org/drawingml/2006/main">
            <a:srgbClr val="FFF8E6"/>
          </a:solidFill>
          <a:ln xmlns:a="http://schemas.openxmlformats.org/drawingml/2006/main" w="19050">
            <a:solidFill>
              <a:srgbClr val="B75D32"/>
            </a:solidFill>
            <a:prstDash val="solid"/>
          </a:ln>
        </p:spPr>
      </p:sp>
      <p:sp>
        <p:nvSpPr>
          <p:cNvPr id="14" name="">
            <a:extLst xmlns:a="http://schemas.openxmlformats.org/drawingml/2006/main">
              <a:ext uri="{FF2B5EF4-FFF2-40B4-BE49-F238E27FC236}">
                <a16:creationId xmlns:a16="http://schemas.microsoft.com/office/drawing/2014/main" id="{A0F551E1-6409-4BA1-B3E4-E4B735EBEA8E}"/>
              </a:ext>
            </a:extLst>
          </p:cNvPr>
          <p:cNvSpPr>
            <a:spLocks xmlns:a="http://schemas.openxmlformats.org/drawingml/2006/main" noGrp="1"/>
          </p:cNvSpPr>
          <p:nvPr/>
        </p:nvSpPr>
        <p:spPr>
          <a:xfrm xmlns:a="http://schemas.openxmlformats.org/drawingml/2006/main">
            <a:off x="4286250" y="2781300"/>
            <a:ext cx="2857500" cy="514350"/>
          </a:xfrm>
          <a:prstGeom xmlns:a="http://schemas.openxmlformats.org/drawingml/2006/main" prst="rect">
            <a:avLst/>
          </a:prstGeom>
          <a:solidFill xmlns:a="http://schemas.openxmlformats.org/drawingml/2006/main">
            <a:srgbClr val="EBD3C3"/>
          </a:solidFill>
          <a:ln xmlns:a="http://schemas.openxmlformats.org/drawingml/2006/main" w="0">
            <a:solidFill>
              <a:srgbClr val="B75D32"/>
            </a:solidFill>
            <a:prstDash val="solid"/>
          </a:ln>
        </p:spPr>
      </p:sp>
      <p:sp>
        <p:nvSpPr>
          <p:cNvPr id="15" name="">
            <a:extLst xmlns:a="http://schemas.openxmlformats.org/drawingml/2006/main">
              <a:ext uri="{FF2B5EF4-FFF2-40B4-BE49-F238E27FC236}">
                <a16:creationId xmlns:a16="http://schemas.microsoft.com/office/drawing/2014/main" id="{96C2A005-C7D3-4549-9AFA-1A9022593320}"/>
              </a:ext>
            </a:extLst>
          </p:cNvPr>
          <p:cNvSpPr>
            <a:spLocks xmlns:a="http://schemas.openxmlformats.org/drawingml/2006/main" noGrp="1"/>
          </p:cNvSpPr>
          <p:nvPr/>
        </p:nvSpPr>
        <p:spPr>
          <a:xfrm xmlns:a="http://schemas.openxmlformats.org/drawingml/2006/main">
            <a:off x="4495800" y="2952750"/>
            <a:ext cx="2438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Tư bản sản xuất</a:t>
            </a:r>
          </a:p>
        </p:txBody>
      </p:sp>
      <p:sp>
        <p:nvSpPr>
          <p:cNvPr id="16" name="">
            <a:extLst xmlns:a="http://schemas.openxmlformats.org/drawingml/2006/main">
              <a:ext uri="{FF2B5EF4-FFF2-40B4-BE49-F238E27FC236}">
                <a16:creationId xmlns:a16="http://schemas.microsoft.com/office/drawing/2014/main" id="{C3BF9227-B250-405C-A8F2-D043FE5B32C0}"/>
              </a:ext>
            </a:extLst>
          </p:cNvPr>
          <p:cNvSpPr>
            <a:spLocks xmlns:a="http://schemas.openxmlformats.org/drawingml/2006/main" noGrp="1"/>
          </p:cNvSpPr>
          <p:nvPr/>
        </p:nvSpPr>
        <p:spPr>
          <a:xfrm xmlns:a="http://schemas.openxmlformats.org/drawingml/2006/main">
            <a:off x="4514850" y="3562350"/>
            <a:ext cx="24003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B75D32"/>
                </a:solidFill>
                <a:latin typeface="Georgia"/>
                <a:ea typeface="Georgia"/>
                <a:cs typeface="Georgia"/>
              </a:defRPr>
            </a:pPr>
            <a:r>
              <a:rPr sz="1500" b="1">
                <a:solidFill>
                  <a:srgbClr val="B75D32"/>
                </a:solidFill>
                <a:latin typeface="Georgia"/>
                <a:ea typeface="Georgia"/>
                <a:cs typeface="Georgia"/>
              </a:rPr>
              <a:t>Đất, máy móc, lao động</a:t>
            </a:r>
          </a:p>
        </p:txBody>
      </p:sp>
      <p:sp>
        <p:nvSpPr>
          <p:cNvPr id="17" name="">
            <a:extLst xmlns:a="http://schemas.openxmlformats.org/drawingml/2006/main">
              <a:ext uri="{FF2B5EF4-FFF2-40B4-BE49-F238E27FC236}">
                <a16:creationId xmlns:a16="http://schemas.microsoft.com/office/drawing/2014/main" id="{61A291AA-8D66-4B66-9240-7FE496634756}"/>
              </a:ext>
            </a:extLst>
          </p:cNvPr>
          <p:cNvSpPr>
            <a:spLocks xmlns:a="http://schemas.openxmlformats.org/drawingml/2006/main" noGrp="1"/>
          </p:cNvSpPr>
          <p:nvPr/>
        </p:nvSpPr>
        <p:spPr>
          <a:xfrm xmlns:a="http://schemas.openxmlformats.org/drawingml/2006/main">
            <a:off x="4743450" y="4114800"/>
            <a:ext cx="1943100" cy="190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F0A78EC-AC49-492C-AE32-22B0003827DF}"/>
              </a:ext>
            </a:extLst>
          </p:cNvPr>
          <p:cNvSpPr>
            <a:spLocks xmlns:a="http://schemas.openxmlformats.org/drawingml/2006/main" noGrp="1"/>
          </p:cNvSpPr>
          <p:nvPr/>
        </p:nvSpPr>
        <p:spPr>
          <a:xfrm xmlns:a="http://schemas.openxmlformats.org/drawingml/2006/main">
            <a:off x="4610100" y="4400550"/>
            <a:ext cx="2209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A5D4F"/>
                </a:solidFill>
                <a:latin typeface="Avenir Next"/>
                <a:ea typeface="Avenir Next"/>
                <a:cs typeface="Avenir Next"/>
              </a:defRPr>
            </a:pPr>
            <a:r>
              <a:rPr sz="975" b="0">
                <a:solidFill>
                  <a:srgbClr val="6A5D4F"/>
                </a:solidFill>
                <a:latin typeface="Avenir Next"/>
                <a:ea typeface="Avenir Next"/>
                <a:cs typeface="Avenir Next"/>
              </a:rPr>
              <a:t>Duy trì công trường và tạo giá trị mới</a:t>
            </a:r>
          </a:p>
        </p:txBody>
      </p:sp>
      <p:sp>
        <p:nvSpPr>
          <p:cNvPr id="19" name="">
            <a:extLst xmlns:a="http://schemas.openxmlformats.org/drawingml/2006/main">
              <a:ext uri="{FF2B5EF4-FFF2-40B4-BE49-F238E27FC236}">
                <a16:creationId xmlns:a16="http://schemas.microsoft.com/office/drawing/2014/main" id="{98242B27-AC02-4F59-A9E5-7AB65347D1D5}"/>
              </a:ext>
            </a:extLst>
          </p:cNvPr>
          <p:cNvSpPr>
            <a:spLocks xmlns:a="http://schemas.openxmlformats.org/drawingml/2006/main" noGrp="1"/>
          </p:cNvSpPr>
          <p:nvPr/>
        </p:nvSpPr>
        <p:spPr>
          <a:xfrm xmlns:a="http://schemas.openxmlformats.org/drawingml/2006/main">
            <a:off x="7810500" y="2781300"/>
            <a:ext cx="2857500" cy="2190750"/>
          </a:xfrm>
          <a:prstGeom xmlns:a="http://schemas.openxmlformats.org/drawingml/2006/main" prst="rect">
            <a:avLst/>
          </a:prstGeom>
          <a:solidFill xmlns:a="http://schemas.openxmlformats.org/drawingml/2006/main">
            <a:srgbClr val="FFF8E6"/>
          </a:solidFill>
          <a:ln xmlns:a="http://schemas.openxmlformats.org/drawingml/2006/main" w="19050">
            <a:solidFill>
              <a:srgbClr val="D6A53A"/>
            </a:solidFill>
            <a:prstDash val="solid"/>
          </a:ln>
        </p:spPr>
      </p:sp>
      <p:sp>
        <p:nvSpPr>
          <p:cNvPr id="20" name="">
            <a:extLst xmlns:a="http://schemas.openxmlformats.org/drawingml/2006/main">
              <a:ext uri="{FF2B5EF4-FFF2-40B4-BE49-F238E27FC236}">
                <a16:creationId xmlns:a16="http://schemas.microsoft.com/office/drawing/2014/main" id="{0ED0B7E6-4140-40D0-8BBA-72ED063D9B9A}"/>
              </a:ext>
            </a:extLst>
          </p:cNvPr>
          <p:cNvSpPr>
            <a:spLocks xmlns:a="http://schemas.openxmlformats.org/drawingml/2006/main" noGrp="1"/>
          </p:cNvSpPr>
          <p:nvPr/>
        </p:nvSpPr>
        <p:spPr>
          <a:xfrm xmlns:a="http://schemas.openxmlformats.org/drawingml/2006/main">
            <a:off x="7810500" y="2781300"/>
            <a:ext cx="2857500" cy="514350"/>
          </a:xfrm>
          <a:prstGeom xmlns:a="http://schemas.openxmlformats.org/drawingml/2006/main" prst="rect">
            <a:avLst/>
          </a:prstGeom>
          <a:solidFill xmlns:a="http://schemas.openxmlformats.org/drawingml/2006/main">
            <a:srgbClr val="EFE0AD"/>
          </a:solidFill>
          <a:ln xmlns:a="http://schemas.openxmlformats.org/drawingml/2006/main" w="0">
            <a:solidFill>
              <a:srgbClr val="D6A53A"/>
            </a:solidFill>
            <a:prstDash val="solid"/>
          </a:ln>
        </p:spPr>
      </p:sp>
      <p:sp>
        <p:nvSpPr>
          <p:cNvPr id="21" name="">
            <a:extLst xmlns:a="http://schemas.openxmlformats.org/drawingml/2006/main">
              <a:ext uri="{FF2B5EF4-FFF2-40B4-BE49-F238E27FC236}">
                <a16:creationId xmlns:a16="http://schemas.microsoft.com/office/drawing/2014/main" id="{61B9971F-5875-4261-9922-CAC7C2FB9CF1}"/>
              </a:ext>
            </a:extLst>
          </p:cNvPr>
          <p:cNvSpPr>
            <a:spLocks xmlns:a="http://schemas.openxmlformats.org/drawingml/2006/main" noGrp="1"/>
          </p:cNvSpPr>
          <p:nvPr/>
        </p:nvSpPr>
        <p:spPr>
          <a:xfrm xmlns:a="http://schemas.openxmlformats.org/drawingml/2006/main">
            <a:off x="8020050" y="2952750"/>
            <a:ext cx="24384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Tư bản hàng hóa</a:t>
            </a:r>
          </a:p>
        </p:txBody>
      </p:sp>
      <p:sp>
        <p:nvSpPr>
          <p:cNvPr id="22" name="">
            <a:extLst xmlns:a="http://schemas.openxmlformats.org/drawingml/2006/main">
              <a:ext uri="{FF2B5EF4-FFF2-40B4-BE49-F238E27FC236}">
                <a16:creationId xmlns:a16="http://schemas.microsoft.com/office/drawing/2014/main" id="{EC34AD4D-F657-4B3B-82C2-239F889046C5}"/>
              </a:ext>
            </a:extLst>
          </p:cNvPr>
          <p:cNvSpPr>
            <a:spLocks xmlns:a="http://schemas.openxmlformats.org/drawingml/2006/main" noGrp="1"/>
          </p:cNvSpPr>
          <p:nvPr/>
        </p:nvSpPr>
        <p:spPr>
          <a:xfrm xmlns:a="http://schemas.openxmlformats.org/drawingml/2006/main">
            <a:off x="8039100" y="3562350"/>
            <a:ext cx="24003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D6A53A"/>
                </a:solidFill>
                <a:latin typeface="Georgia"/>
                <a:ea typeface="Georgia"/>
                <a:cs typeface="Georgia"/>
              </a:defRPr>
            </a:pPr>
            <a:r>
              <a:rPr sz="1500" b="1">
                <a:solidFill>
                  <a:srgbClr val="D6A53A"/>
                </a:solidFill>
                <a:latin typeface="Georgia"/>
                <a:ea typeface="Georgia"/>
                <a:cs typeface="Georgia"/>
              </a:rPr>
              <a:t>Căn hộ, tòa tháp, sản phẩm BĐS</a:t>
            </a:r>
          </a:p>
        </p:txBody>
      </p:sp>
      <p:sp>
        <p:nvSpPr>
          <p:cNvPr id="23" name="">
            <a:extLst xmlns:a="http://schemas.openxmlformats.org/drawingml/2006/main">
              <a:ext uri="{FF2B5EF4-FFF2-40B4-BE49-F238E27FC236}">
                <a16:creationId xmlns:a16="http://schemas.microsoft.com/office/drawing/2014/main" id="{09B7DEB8-AF3D-419F-B0AA-35A05C21C803}"/>
              </a:ext>
            </a:extLst>
          </p:cNvPr>
          <p:cNvSpPr>
            <a:spLocks xmlns:a="http://schemas.openxmlformats.org/drawingml/2006/main" noGrp="1"/>
          </p:cNvSpPr>
          <p:nvPr/>
        </p:nvSpPr>
        <p:spPr>
          <a:xfrm xmlns:a="http://schemas.openxmlformats.org/drawingml/2006/main">
            <a:off x="8267700" y="4114800"/>
            <a:ext cx="1943100" cy="190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EBB1A7F-6A77-40C5-B7AA-95758A0B7F06}"/>
              </a:ext>
            </a:extLst>
          </p:cNvPr>
          <p:cNvSpPr>
            <a:spLocks xmlns:a="http://schemas.openxmlformats.org/drawingml/2006/main" noGrp="1"/>
          </p:cNvSpPr>
          <p:nvPr/>
        </p:nvSpPr>
        <p:spPr>
          <a:xfrm xmlns:a="http://schemas.openxmlformats.org/drawingml/2006/main">
            <a:off x="8134350" y="4400550"/>
            <a:ext cx="22098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A5D4F"/>
                </a:solidFill>
                <a:latin typeface="Avenir Next"/>
                <a:ea typeface="Avenir Next"/>
                <a:cs typeface="Avenir Next"/>
              </a:defRPr>
            </a:pPr>
            <a:r>
              <a:rPr sz="975" b="0">
                <a:solidFill>
                  <a:srgbClr val="6A5D4F"/>
                </a:solidFill>
                <a:latin typeface="Avenir Next"/>
                <a:ea typeface="Avenir Next"/>
                <a:cs typeface="Avenir Next"/>
              </a:rPr>
              <a:t>Bán ra thị trường để thu T'</a:t>
            </a:r>
          </a:p>
        </p:txBody>
      </p:sp>
      <p:sp>
        <p:nvSpPr>
          <p:cNvPr id="25" name="">
            <a:extLst xmlns:a="http://schemas.openxmlformats.org/drawingml/2006/main">
              <a:ext uri="{FF2B5EF4-FFF2-40B4-BE49-F238E27FC236}">
                <a16:creationId xmlns:a16="http://schemas.microsoft.com/office/drawing/2014/main" id="{B8DE01C8-57BE-4FFE-9D9B-8E0C7F45F646}"/>
              </a:ext>
            </a:extLst>
          </p:cNvPr>
          <p:cNvSpPr>
            <a:spLocks xmlns:a="http://schemas.openxmlformats.org/drawingml/2006/main" noGrp="1"/>
          </p:cNvSpPr>
          <p:nvPr/>
        </p:nvSpPr>
        <p:spPr>
          <a:xfrm xmlns:a="http://schemas.openxmlformats.org/drawingml/2006/main">
            <a:off x="1162050" y="5505450"/>
            <a:ext cx="9525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1F1A14"/>
                </a:solidFill>
                <a:latin typeface="Avenir Next"/>
                <a:ea typeface="Avenir Next"/>
                <a:cs typeface="Avenir Next"/>
              </a:defRPr>
            </a:pPr>
            <a:r>
              <a:rPr sz="1163" b="1">
                <a:solidFill>
                  <a:srgbClr val="1F1A14"/>
                </a:solidFill>
                <a:latin typeface="Avenir Next"/>
                <a:ea typeface="Avenir Next"/>
                <a:cs typeface="Avenir Next"/>
              </a:rPr>
              <a:t>Trong tình huống Alpha Corp, tỷ trọng vốn bị dồn quá lớn vào tư bản hàng hóa H', trong khi tiền để thanh toán và tái sản xuất bị thiếu.</a:t>
            </a:r>
          </a:p>
        </p:txBody>
      </p:sp>
      <p:sp>
        <p:nvSpPr>
          <p:cNvPr id="26" name="">
            <a:extLst xmlns:a="http://schemas.openxmlformats.org/drawingml/2006/main">
              <a:ext uri="{FF2B5EF4-FFF2-40B4-BE49-F238E27FC236}">
                <a16:creationId xmlns:a16="http://schemas.microsoft.com/office/drawing/2014/main" id="{A9D02B2F-3C82-4B19-A6EC-C3832D80C65B}"/>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ADFF04C7-85E0-4006-983C-A51466A215F8}"/>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Nguồn: tình huống Alpha Corp giả định trong đề bài</a:t>
            </a:r>
          </a:p>
        </p:txBody>
      </p:sp>
      <p:sp>
        <p:nvSpPr>
          <p:cNvPr id="28" name="">
            <a:extLst xmlns:a="http://schemas.openxmlformats.org/drawingml/2006/main">
              <a:ext uri="{FF2B5EF4-FFF2-40B4-BE49-F238E27FC236}">
                <a16:creationId xmlns:a16="http://schemas.microsoft.com/office/drawing/2014/main" id="{B85263B6-B2D7-445C-B7F2-8CE3A153B77C}"/>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05</a:t>
            </a:r>
          </a:p>
        </p:txBody>
      </p:sp>
    </p:spTree>
    <p:extLst>
      <p:ext uri="{BB962C8B-B14F-4D97-AF65-F5344CB8AC3E}">
        <p14:creationId xmlns:p14="http://schemas.microsoft.com/office/powerpoint/2010/main" val="19353159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C41950E-22EF-44FB-8568-3381982EE1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5076396-9D66-4475-B3B5-62B3CB0434D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2B05B05C-9A29-43CF-84A9-F0F982F50900}"/>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E1C6329E-DEBA-417A-8DDB-5DF8F6AF444D}"/>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ĐIỀU KIỆN THỜI GIAN</a:t>
            </a:r>
          </a:p>
        </p:txBody>
      </p:sp>
      <p:sp>
        <p:nvSpPr>
          <p:cNvPr id="5" name="">
            <a:extLst xmlns:a="http://schemas.openxmlformats.org/drawingml/2006/main">
              <a:ext uri="{FF2B5EF4-FFF2-40B4-BE49-F238E27FC236}">
                <a16:creationId xmlns:a16="http://schemas.microsoft.com/office/drawing/2014/main" id="{904E4C86-6EC8-407F-A111-886EEB4F0F94}"/>
              </a:ext>
            </a:extLst>
          </p:cNvPr>
          <p:cNvSpPr>
            <a:spLocks xmlns:a="http://schemas.openxmlformats.org/drawingml/2006/main" noGrp="1"/>
          </p:cNvSpPr>
          <p:nvPr/>
        </p:nvSpPr>
        <p:spPr>
          <a:xfrm xmlns:a="http://schemas.openxmlformats.org/drawingml/2006/main">
            <a:off x="552450" y="742950"/>
            <a:ext cx="8763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Các hình thái phải kế tiếp nhau đúng nhịp: mua, sản xuất, bán, rồi tái đầu tư.</a:t>
            </a:r>
          </a:p>
        </p:txBody>
      </p:sp>
      <p:sp>
        <p:nvSpPr>
          <p:cNvPr id="6" name="">
            <a:extLst xmlns:a="http://schemas.openxmlformats.org/drawingml/2006/main">
              <a:ext uri="{FF2B5EF4-FFF2-40B4-BE49-F238E27FC236}">
                <a16:creationId xmlns:a16="http://schemas.microsoft.com/office/drawing/2014/main" id="{0F11A4B1-2BDB-4718-8D7E-CA34C5824888}"/>
              </a:ext>
            </a:extLst>
          </p:cNvPr>
          <p:cNvSpPr>
            <a:spLocks xmlns:a="http://schemas.openxmlformats.org/drawingml/2006/main" noGrp="1"/>
          </p:cNvSpPr>
          <p:nvPr/>
        </p:nvSpPr>
        <p:spPr>
          <a:xfrm xmlns:a="http://schemas.openxmlformats.org/drawingml/2006/main">
            <a:off x="819150" y="3181350"/>
            <a:ext cx="1333500" cy="91440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A914F66-A297-4AF0-B704-C8D406DA1E2F}"/>
              </a:ext>
            </a:extLst>
          </p:cNvPr>
          <p:cNvSpPr>
            <a:spLocks xmlns:a="http://schemas.openxmlformats.org/drawingml/2006/main" noGrp="1"/>
          </p:cNvSpPr>
          <p:nvPr/>
        </p:nvSpPr>
        <p:spPr>
          <a:xfrm xmlns:a="http://schemas.openxmlformats.org/drawingml/2006/main">
            <a:off x="1219200" y="2724150"/>
            <a:ext cx="533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1A14"/>
                </a:solidFill>
                <a:latin typeface="Georgia"/>
                <a:ea typeface="Georgia"/>
                <a:cs typeface="Georgia"/>
              </a:defRPr>
            </a:pPr>
            <a:r>
              <a:rPr sz="2100" b="1">
                <a:solidFill>
                  <a:srgbClr val="1F1A14"/>
                </a:solidFill>
                <a:latin typeface="Georgia"/>
                <a:ea typeface="Georgia"/>
                <a:cs typeface="Georgia"/>
              </a:rPr>
              <a:t>1</a:t>
            </a:r>
          </a:p>
        </p:txBody>
      </p:sp>
      <p:sp>
        <p:nvSpPr>
          <p:cNvPr id="8" name="">
            <a:extLst xmlns:a="http://schemas.openxmlformats.org/drawingml/2006/main">
              <a:ext uri="{FF2B5EF4-FFF2-40B4-BE49-F238E27FC236}">
                <a16:creationId xmlns:a16="http://schemas.microsoft.com/office/drawing/2014/main" id="{5502DF7C-F69A-46E6-A3C7-BFC39BDF3863}"/>
              </a:ext>
            </a:extLst>
          </p:cNvPr>
          <p:cNvSpPr>
            <a:spLocks xmlns:a="http://schemas.openxmlformats.org/drawingml/2006/main" noGrp="1"/>
          </p:cNvSpPr>
          <p:nvPr/>
        </p:nvSpPr>
        <p:spPr>
          <a:xfrm xmlns:a="http://schemas.openxmlformats.org/drawingml/2006/main">
            <a:off x="819150" y="43053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F1A14"/>
                </a:solidFill>
                <a:latin typeface="Avenir Next"/>
                <a:ea typeface="Avenir Next"/>
                <a:cs typeface="Avenir Next"/>
              </a:defRPr>
            </a:pPr>
            <a:r>
              <a:rPr sz="1050" b="1">
                <a:solidFill>
                  <a:srgbClr val="1F1A14"/>
                </a:solidFill>
                <a:latin typeface="Avenir Next"/>
                <a:ea typeface="Avenir Next"/>
                <a:cs typeface="Avenir Next"/>
              </a:rPr>
              <a:t>Ứng vốn</a:t>
            </a:r>
          </a:p>
        </p:txBody>
      </p:sp>
      <p:sp>
        <p:nvSpPr>
          <p:cNvPr id="9" name="">
            <a:extLst xmlns:a="http://schemas.openxmlformats.org/drawingml/2006/main">
              <a:ext uri="{FF2B5EF4-FFF2-40B4-BE49-F238E27FC236}">
                <a16:creationId xmlns:a16="http://schemas.microsoft.com/office/drawing/2014/main" id="{65E3E58C-793B-4CC0-8573-95156BD9CCB2}"/>
              </a:ext>
            </a:extLst>
          </p:cNvPr>
          <p:cNvSpPr>
            <a:spLocks xmlns:a="http://schemas.openxmlformats.org/drawingml/2006/main" noGrp="1"/>
          </p:cNvSpPr>
          <p:nvPr/>
        </p:nvSpPr>
        <p:spPr>
          <a:xfrm xmlns:a="http://schemas.openxmlformats.org/drawingml/2006/main">
            <a:off x="819150" y="455295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5D4F"/>
                </a:solidFill>
                <a:latin typeface="Avenir Next"/>
                <a:ea typeface="Avenir Next"/>
                <a:cs typeface="Avenir Next"/>
              </a:defRPr>
            </a:pPr>
            <a:r>
              <a:rPr sz="750" b="0">
                <a:solidFill>
                  <a:srgbClr val="6A5D4F"/>
                </a:solidFill>
                <a:latin typeface="Avenir Next"/>
                <a:ea typeface="Avenir Next"/>
                <a:cs typeface="Avenir Next"/>
              </a:rPr>
              <a:t>T mua H</a:t>
            </a:r>
          </a:p>
        </p:txBody>
      </p:sp>
      <p:sp>
        <p:nvSpPr>
          <p:cNvPr id="10" name="">
            <a:extLst xmlns:a="http://schemas.openxmlformats.org/drawingml/2006/main">
              <a:ext uri="{FF2B5EF4-FFF2-40B4-BE49-F238E27FC236}">
                <a16:creationId xmlns:a16="http://schemas.microsoft.com/office/drawing/2014/main" id="{C4A0ED96-D97F-4235-92BD-D699204EC495}"/>
              </a:ext>
            </a:extLst>
          </p:cNvPr>
          <p:cNvSpPr>
            <a:spLocks xmlns:a="http://schemas.openxmlformats.org/drawingml/2006/main" noGrp="1"/>
          </p:cNvSpPr>
          <p:nvPr/>
        </p:nvSpPr>
        <p:spPr>
          <a:xfrm xmlns:a="http://schemas.openxmlformats.org/drawingml/2006/main">
            <a:off x="2228850" y="3676650"/>
            <a:ext cx="457200" cy="2857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D753E24-9E16-486F-9787-CD4D460C29A5}"/>
              </a:ext>
            </a:extLst>
          </p:cNvPr>
          <p:cNvSpPr>
            <a:spLocks xmlns:a="http://schemas.openxmlformats.org/drawingml/2006/main" noGrp="1"/>
          </p:cNvSpPr>
          <p:nvPr/>
        </p:nvSpPr>
        <p:spPr>
          <a:xfrm xmlns:a="http://schemas.openxmlformats.org/drawingml/2006/main">
            <a:off x="2667000" y="3629025"/>
            <a:ext cx="114300" cy="95250"/>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44BD942-F592-47C1-8B5B-E718504CC786}"/>
              </a:ext>
            </a:extLst>
          </p:cNvPr>
          <p:cNvSpPr>
            <a:spLocks xmlns:a="http://schemas.openxmlformats.org/drawingml/2006/main" noGrp="1"/>
          </p:cNvSpPr>
          <p:nvPr/>
        </p:nvSpPr>
        <p:spPr>
          <a:xfrm xmlns:a="http://schemas.openxmlformats.org/drawingml/2006/main">
            <a:off x="2914650" y="3009900"/>
            <a:ext cx="1333500" cy="1085850"/>
          </a:xfrm>
          <a:prstGeom xmlns:a="http://schemas.openxmlformats.org/drawingml/2006/main" prst="rect">
            <a:avLst/>
          </a:prstGeom>
          <a:solidFill xmlns:a="http://schemas.openxmlformats.org/drawingml/2006/main">
            <a:srgbClr val="1F7A7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21A85963-EED9-4C18-A85A-6AA743DEAA5D}"/>
              </a:ext>
            </a:extLst>
          </p:cNvPr>
          <p:cNvSpPr>
            <a:spLocks xmlns:a="http://schemas.openxmlformats.org/drawingml/2006/main" noGrp="1"/>
          </p:cNvSpPr>
          <p:nvPr/>
        </p:nvSpPr>
        <p:spPr>
          <a:xfrm xmlns:a="http://schemas.openxmlformats.org/drawingml/2006/main">
            <a:off x="3314700" y="2552700"/>
            <a:ext cx="533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1A14"/>
                </a:solidFill>
                <a:latin typeface="Georgia"/>
                <a:ea typeface="Georgia"/>
                <a:cs typeface="Georgia"/>
              </a:defRPr>
            </a:pPr>
            <a:r>
              <a:rPr sz="2100" b="1">
                <a:solidFill>
                  <a:srgbClr val="1F1A14"/>
                </a:solidFill>
                <a:latin typeface="Georgia"/>
                <a:ea typeface="Georgia"/>
                <a:cs typeface="Georgia"/>
              </a:rPr>
              <a:t>2</a:t>
            </a:r>
          </a:p>
        </p:txBody>
      </p:sp>
      <p:sp>
        <p:nvSpPr>
          <p:cNvPr id="14" name="">
            <a:extLst xmlns:a="http://schemas.openxmlformats.org/drawingml/2006/main">
              <a:ext uri="{FF2B5EF4-FFF2-40B4-BE49-F238E27FC236}">
                <a16:creationId xmlns:a16="http://schemas.microsoft.com/office/drawing/2014/main" id="{97E2355C-5355-4224-AEAF-EC0612B4279C}"/>
              </a:ext>
            </a:extLst>
          </p:cNvPr>
          <p:cNvSpPr>
            <a:spLocks xmlns:a="http://schemas.openxmlformats.org/drawingml/2006/main" noGrp="1"/>
          </p:cNvSpPr>
          <p:nvPr/>
        </p:nvSpPr>
        <p:spPr>
          <a:xfrm xmlns:a="http://schemas.openxmlformats.org/drawingml/2006/main">
            <a:off x="2914650" y="43053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F1A14"/>
                </a:solidFill>
                <a:latin typeface="Avenir Next"/>
                <a:ea typeface="Avenir Next"/>
                <a:cs typeface="Avenir Next"/>
              </a:defRPr>
            </a:pPr>
            <a:r>
              <a:rPr sz="1050" b="1">
                <a:solidFill>
                  <a:srgbClr val="1F1A14"/>
                </a:solidFill>
                <a:latin typeface="Avenir Next"/>
                <a:ea typeface="Avenir Next"/>
                <a:cs typeface="Avenir Next"/>
              </a:rPr>
              <a:t>Sản xuất</a:t>
            </a:r>
          </a:p>
        </p:txBody>
      </p:sp>
      <p:sp>
        <p:nvSpPr>
          <p:cNvPr id="15" name="">
            <a:extLst xmlns:a="http://schemas.openxmlformats.org/drawingml/2006/main">
              <a:ext uri="{FF2B5EF4-FFF2-40B4-BE49-F238E27FC236}">
                <a16:creationId xmlns:a16="http://schemas.microsoft.com/office/drawing/2014/main" id="{5ACB637D-E119-41DA-825A-12E731E1BCC3}"/>
              </a:ext>
            </a:extLst>
          </p:cNvPr>
          <p:cNvSpPr>
            <a:spLocks xmlns:a="http://schemas.openxmlformats.org/drawingml/2006/main" noGrp="1"/>
          </p:cNvSpPr>
          <p:nvPr/>
        </p:nvSpPr>
        <p:spPr>
          <a:xfrm xmlns:a="http://schemas.openxmlformats.org/drawingml/2006/main">
            <a:off x="2914650" y="455295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5D4F"/>
                </a:solidFill>
                <a:latin typeface="Avenir Next"/>
                <a:ea typeface="Avenir Next"/>
                <a:cs typeface="Avenir Next"/>
              </a:defRPr>
            </a:pPr>
            <a:r>
              <a:rPr sz="750" b="0">
                <a:solidFill>
                  <a:srgbClr val="6A5D4F"/>
                </a:solidFill>
                <a:latin typeface="Avenir Next"/>
                <a:ea typeface="Avenir Next"/>
                <a:cs typeface="Avenir Next"/>
              </a:rPr>
              <a:t>H đi vào SX</a:t>
            </a:r>
          </a:p>
        </p:txBody>
      </p:sp>
      <p:sp>
        <p:nvSpPr>
          <p:cNvPr id="16" name="">
            <a:extLst xmlns:a="http://schemas.openxmlformats.org/drawingml/2006/main">
              <a:ext uri="{FF2B5EF4-FFF2-40B4-BE49-F238E27FC236}">
                <a16:creationId xmlns:a16="http://schemas.microsoft.com/office/drawing/2014/main" id="{39FD2302-6540-407A-8511-D7C6AB726D21}"/>
              </a:ext>
            </a:extLst>
          </p:cNvPr>
          <p:cNvSpPr>
            <a:spLocks xmlns:a="http://schemas.openxmlformats.org/drawingml/2006/main" noGrp="1"/>
          </p:cNvSpPr>
          <p:nvPr/>
        </p:nvSpPr>
        <p:spPr>
          <a:xfrm xmlns:a="http://schemas.openxmlformats.org/drawingml/2006/main">
            <a:off x="4324350" y="3676650"/>
            <a:ext cx="457200" cy="2857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1FA7C7B-4D16-474B-BE20-B43B2BD1DA40}"/>
              </a:ext>
            </a:extLst>
          </p:cNvPr>
          <p:cNvSpPr>
            <a:spLocks xmlns:a="http://schemas.openxmlformats.org/drawingml/2006/main" noGrp="1"/>
          </p:cNvSpPr>
          <p:nvPr/>
        </p:nvSpPr>
        <p:spPr>
          <a:xfrm xmlns:a="http://schemas.openxmlformats.org/drawingml/2006/main">
            <a:off x="4762500" y="3629025"/>
            <a:ext cx="114300" cy="95250"/>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DC3ACFD0-B9E1-4089-9BE6-B63D56488EE0}"/>
              </a:ext>
            </a:extLst>
          </p:cNvPr>
          <p:cNvSpPr>
            <a:spLocks xmlns:a="http://schemas.openxmlformats.org/drawingml/2006/main" noGrp="1"/>
          </p:cNvSpPr>
          <p:nvPr/>
        </p:nvSpPr>
        <p:spPr>
          <a:xfrm xmlns:a="http://schemas.openxmlformats.org/drawingml/2006/main">
            <a:off x="5010150" y="2838450"/>
            <a:ext cx="1333500" cy="125730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8E9D031-28C6-48F9-B8D2-CC8CFD11177A}"/>
              </a:ext>
            </a:extLst>
          </p:cNvPr>
          <p:cNvSpPr>
            <a:spLocks xmlns:a="http://schemas.openxmlformats.org/drawingml/2006/main" noGrp="1"/>
          </p:cNvSpPr>
          <p:nvPr/>
        </p:nvSpPr>
        <p:spPr>
          <a:xfrm xmlns:a="http://schemas.openxmlformats.org/drawingml/2006/main">
            <a:off x="5410200" y="2381250"/>
            <a:ext cx="533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1A14"/>
                </a:solidFill>
                <a:latin typeface="Georgia"/>
                <a:ea typeface="Georgia"/>
                <a:cs typeface="Georgia"/>
              </a:defRPr>
            </a:pPr>
            <a:r>
              <a:rPr sz="2100" b="1">
                <a:solidFill>
                  <a:srgbClr val="1F1A14"/>
                </a:solidFill>
                <a:latin typeface="Georgia"/>
                <a:ea typeface="Georgia"/>
                <a:cs typeface="Georgia"/>
              </a:rPr>
              <a:t>3</a:t>
            </a:r>
          </a:p>
        </p:txBody>
      </p:sp>
      <p:sp>
        <p:nvSpPr>
          <p:cNvPr id="20" name="">
            <a:extLst xmlns:a="http://schemas.openxmlformats.org/drawingml/2006/main">
              <a:ext uri="{FF2B5EF4-FFF2-40B4-BE49-F238E27FC236}">
                <a16:creationId xmlns:a16="http://schemas.microsoft.com/office/drawing/2014/main" id="{7451DCF5-4FC5-4BE9-AA55-BA82066FB9A0}"/>
              </a:ext>
            </a:extLst>
          </p:cNvPr>
          <p:cNvSpPr>
            <a:spLocks xmlns:a="http://schemas.openxmlformats.org/drawingml/2006/main" noGrp="1"/>
          </p:cNvSpPr>
          <p:nvPr/>
        </p:nvSpPr>
        <p:spPr>
          <a:xfrm xmlns:a="http://schemas.openxmlformats.org/drawingml/2006/main">
            <a:off x="5010150" y="43053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F1A14"/>
                </a:solidFill>
                <a:latin typeface="Avenir Next"/>
                <a:ea typeface="Avenir Next"/>
                <a:cs typeface="Avenir Next"/>
              </a:defRPr>
            </a:pPr>
            <a:r>
              <a:rPr sz="1050" b="1">
                <a:solidFill>
                  <a:srgbClr val="1F1A14"/>
                </a:solidFill>
                <a:latin typeface="Avenir Next"/>
                <a:ea typeface="Avenir Next"/>
                <a:cs typeface="Avenir Next"/>
              </a:rPr>
              <a:t>Tạo H'</a:t>
            </a:r>
          </a:p>
        </p:txBody>
      </p:sp>
      <p:sp>
        <p:nvSpPr>
          <p:cNvPr id="21" name="">
            <a:extLst xmlns:a="http://schemas.openxmlformats.org/drawingml/2006/main">
              <a:ext uri="{FF2B5EF4-FFF2-40B4-BE49-F238E27FC236}">
                <a16:creationId xmlns:a16="http://schemas.microsoft.com/office/drawing/2014/main" id="{99C8E8BA-1BD3-4023-833A-CC76717E3238}"/>
              </a:ext>
            </a:extLst>
          </p:cNvPr>
          <p:cNvSpPr>
            <a:spLocks xmlns:a="http://schemas.openxmlformats.org/drawingml/2006/main" noGrp="1"/>
          </p:cNvSpPr>
          <p:nvPr/>
        </p:nvSpPr>
        <p:spPr>
          <a:xfrm xmlns:a="http://schemas.openxmlformats.org/drawingml/2006/main">
            <a:off x="5010150" y="455295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5D4F"/>
                </a:solidFill>
                <a:latin typeface="Avenir Next"/>
                <a:ea typeface="Avenir Next"/>
                <a:cs typeface="Avenir Next"/>
              </a:defRPr>
            </a:pPr>
            <a:r>
              <a:rPr sz="750" b="0">
                <a:solidFill>
                  <a:srgbClr val="6A5D4F"/>
                </a:solidFill>
                <a:latin typeface="Avenir Next"/>
                <a:ea typeface="Avenir Next"/>
                <a:cs typeface="Avenir Next"/>
              </a:rPr>
              <a:t>sản phẩm chứa m</a:t>
            </a:r>
          </a:p>
        </p:txBody>
      </p:sp>
      <p:sp>
        <p:nvSpPr>
          <p:cNvPr id="22" name="">
            <a:extLst xmlns:a="http://schemas.openxmlformats.org/drawingml/2006/main">
              <a:ext uri="{FF2B5EF4-FFF2-40B4-BE49-F238E27FC236}">
                <a16:creationId xmlns:a16="http://schemas.microsoft.com/office/drawing/2014/main" id="{C92B58C9-3FA2-4DE1-AA33-D7D0EE21A00B}"/>
              </a:ext>
            </a:extLst>
          </p:cNvPr>
          <p:cNvSpPr>
            <a:spLocks xmlns:a="http://schemas.openxmlformats.org/drawingml/2006/main" noGrp="1"/>
          </p:cNvSpPr>
          <p:nvPr/>
        </p:nvSpPr>
        <p:spPr>
          <a:xfrm xmlns:a="http://schemas.openxmlformats.org/drawingml/2006/main">
            <a:off x="6419850" y="3676650"/>
            <a:ext cx="457200" cy="2857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23329A5F-BA3A-474A-B3C4-86DCAAAA9263}"/>
              </a:ext>
            </a:extLst>
          </p:cNvPr>
          <p:cNvSpPr>
            <a:spLocks xmlns:a="http://schemas.openxmlformats.org/drawingml/2006/main" noGrp="1"/>
          </p:cNvSpPr>
          <p:nvPr/>
        </p:nvSpPr>
        <p:spPr>
          <a:xfrm xmlns:a="http://schemas.openxmlformats.org/drawingml/2006/main">
            <a:off x="6858000" y="3629025"/>
            <a:ext cx="114300" cy="95250"/>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43630AD-2C43-439C-AD0D-FA959C0F04DB}"/>
              </a:ext>
            </a:extLst>
          </p:cNvPr>
          <p:cNvSpPr>
            <a:spLocks xmlns:a="http://schemas.openxmlformats.org/drawingml/2006/main" noGrp="1"/>
          </p:cNvSpPr>
          <p:nvPr/>
        </p:nvSpPr>
        <p:spPr>
          <a:xfrm xmlns:a="http://schemas.openxmlformats.org/drawingml/2006/main">
            <a:off x="7105650" y="2667000"/>
            <a:ext cx="1333500" cy="14287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4D7462B-B92E-46C6-9BEE-3A8741501A67}"/>
              </a:ext>
            </a:extLst>
          </p:cNvPr>
          <p:cNvSpPr>
            <a:spLocks xmlns:a="http://schemas.openxmlformats.org/drawingml/2006/main" noGrp="1"/>
          </p:cNvSpPr>
          <p:nvPr/>
        </p:nvSpPr>
        <p:spPr>
          <a:xfrm xmlns:a="http://schemas.openxmlformats.org/drawingml/2006/main">
            <a:off x="7505700" y="2209800"/>
            <a:ext cx="533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1A14"/>
                </a:solidFill>
                <a:latin typeface="Georgia"/>
                <a:ea typeface="Georgia"/>
                <a:cs typeface="Georgia"/>
              </a:defRPr>
            </a:pPr>
            <a:r>
              <a:rPr sz="2100" b="1">
                <a:solidFill>
                  <a:srgbClr val="1F1A14"/>
                </a:solidFill>
                <a:latin typeface="Georgia"/>
                <a:ea typeface="Georgia"/>
                <a:cs typeface="Georgia"/>
              </a:rPr>
              <a:t>4</a:t>
            </a:r>
          </a:p>
        </p:txBody>
      </p:sp>
      <p:sp>
        <p:nvSpPr>
          <p:cNvPr id="26" name="">
            <a:extLst xmlns:a="http://schemas.openxmlformats.org/drawingml/2006/main">
              <a:ext uri="{FF2B5EF4-FFF2-40B4-BE49-F238E27FC236}">
                <a16:creationId xmlns:a16="http://schemas.microsoft.com/office/drawing/2014/main" id="{81AF3FBA-3F7F-4674-8AE4-95E486C761E6}"/>
              </a:ext>
            </a:extLst>
          </p:cNvPr>
          <p:cNvSpPr>
            <a:spLocks xmlns:a="http://schemas.openxmlformats.org/drawingml/2006/main" noGrp="1"/>
          </p:cNvSpPr>
          <p:nvPr/>
        </p:nvSpPr>
        <p:spPr>
          <a:xfrm xmlns:a="http://schemas.openxmlformats.org/drawingml/2006/main">
            <a:off x="7105650" y="43053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F1A14"/>
                </a:solidFill>
                <a:latin typeface="Avenir Next"/>
                <a:ea typeface="Avenir Next"/>
                <a:cs typeface="Avenir Next"/>
              </a:defRPr>
            </a:pPr>
            <a:r>
              <a:rPr sz="1050" b="1">
                <a:solidFill>
                  <a:srgbClr val="1F1A14"/>
                </a:solidFill>
                <a:latin typeface="Avenir Next"/>
                <a:ea typeface="Avenir Next"/>
                <a:cs typeface="Avenir Next"/>
              </a:rPr>
              <a:t>Bán hàng</a:t>
            </a:r>
          </a:p>
        </p:txBody>
      </p:sp>
      <p:sp>
        <p:nvSpPr>
          <p:cNvPr id="27" name="">
            <a:extLst xmlns:a="http://schemas.openxmlformats.org/drawingml/2006/main">
              <a:ext uri="{FF2B5EF4-FFF2-40B4-BE49-F238E27FC236}">
                <a16:creationId xmlns:a16="http://schemas.microsoft.com/office/drawing/2014/main" id="{BA5ABC5E-A04B-44ED-935C-55A650882696}"/>
              </a:ext>
            </a:extLst>
          </p:cNvPr>
          <p:cNvSpPr>
            <a:spLocks xmlns:a="http://schemas.openxmlformats.org/drawingml/2006/main" noGrp="1"/>
          </p:cNvSpPr>
          <p:nvPr/>
        </p:nvSpPr>
        <p:spPr>
          <a:xfrm xmlns:a="http://schemas.openxmlformats.org/drawingml/2006/main">
            <a:off x="7105650" y="455295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5D4F"/>
                </a:solidFill>
                <a:latin typeface="Avenir Next"/>
                <a:ea typeface="Avenir Next"/>
                <a:cs typeface="Avenir Next"/>
              </a:defRPr>
            </a:pPr>
            <a:r>
              <a:rPr sz="750" b="0">
                <a:solidFill>
                  <a:srgbClr val="6A5D4F"/>
                </a:solidFill>
                <a:latin typeface="Avenir Next"/>
                <a:ea typeface="Avenir Next"/>
                <a:cs typeface="Avenir Next"/>
              </a:rPr>
              <a:t>H' chuyển T'</a:t>
            </a:r>
          </a:p>
        </p:txBody>
      </p:sp>
      <p:sp>
        <p:nvSpPr>
          <p:cNvPr id="28" name="">
            <a:extLst xmlns:a="http://schemas.openxmlformats.org/drawingml/2006/main">
              <a:ext uri="{FF2B5EF4-FFF2-40B4-BE49-F238E27FC236}">
                <a16:creationId xmlns:a16="http://schemas.microsoft.com/office/drawing/2014/main" id="{3A952B58-A833-4B03-B954-9E1728F35D2B}"/>
              </a:ext>
            </a:extLst>
          </p:cNvPr>
          <p:cNvSpPr>
            <a:spLocks xmlns:a="http://schemas.openxmlformats.org/drawingml/2006/main" noGrp="1"/>
          </p:cNvSpPr>
          <p:nvPr/>
        </p:nvSpPr>
        <p:spPr>
          <a:xfrm xmlns:a="http://schemas.openxmlformats.org/drawingml/2006/main">
            <a:off x="8515350" y="3676650"/>
            <a:ext cx="457200" cy="28575"/>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BC558E00-2287-4E08-9581-469BD073BEDD}"/>
              </a:ext>
            </a:extLst>
          </p:cNvPr>
          <p:cNvSpPr>
            <a:spLocks xmlns:a="http://schemas.openxmlformats.org/drawingml/2006/main" noGrp="1"/>
          </p:cNvSpPr>
          <p:nvPr/>
        </p:nvSpPr>
        <p:spPr>
          <a:xfrm xmlns:a="http://schemas.openxmlformats.org/drawingml/2006/main">
            <a:off x="8953500" y="3629025"/>
            <a:ext cx="114300" cy="952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843DB786-9981-4D17-8497-1FF531595103}"/>
              </a:ext>
            </a:extLst>
          </p:cNvPr>
          <p:cNvSpPr>
            <a:spLocks xmlns:a="http://schemas.openxmlformats.org/drawingml/2006/main" noGrp="1"/>
          </p:cNvSpPr>
          <p:nvPr/>
        </p:nvSpPr>
        <p:spPr>
          <a:xfrm xmlns:a="http://schemas.openxmlformats.org/drawingml/2006/main">
            <a:off x="9201150" y="2495550"/>
            <a:ext cx="1333500" cy="160020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A1BFFD62-4D2C-4660-9084-81E4075C354B}"/>
              </a:ext>
            </a:extLst>
          </p:cNvPr>
          <p:cNvSpPr>
            <a:spLocks xmlns:a="http://schemas.openxmlformats.org/drawingml/2006/main" noGrp="1"/>
          </p:cNvSpPr>
          <p:nvPr/>
        </p:nvSpPr>
        <p:spPr>
          <a:xfrm xmlns:a="http://schemas.openxmlformats.org/drawingml/2006/main">
            <a:off x="9601200" y="2038350"/>
            <a:ext cx="533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F1A14"/>
                </a:solidFill>
                <a:latin typeface="Georgia"/>
                <a:ea typeface="Georgia"/>
                <a:cs typeface="Georgia"/>
              </a:defRPr>
            </a:pPr>
            <a:r>
              <a:rPr sz="2100" b="1">
                <a:solidFill>
                  <a:srgbClr val="1F1A14"/>
                </a:solidFill>
                <a:latin typeface="Georgia"/>
                <a:ea typeface="Georgia"/>
                <a:cs typeface="Georgia"/>
              </a:rPr>
              <a:t>5</a:t>
            </a:r>
          </a:p>
        </p:txBody>
      </p:sp>
      <p:sp>
        <p:nvSpPr>
          <p:cNvPr id="32" name="">
            <a:extLst xmlns:a="http://schemas.openxmlformats.org/drawingml/2006/main">
              <a:ext uri="{FF2B5EF4-FFF2-40B4-BE49-F238E27FC236}">
                <a16:creationId xmlns:a16="http://schemas.microsoft.com/office/drawing/2014/main" id="{3742B28E-9753-43F8-B737-0024683D294E}"/>
              </a:ext>
            </a:extLst>
          </p:cNvPr>
          <p:cNvSpPr>
            <a:spLocks xmlns:a="http://schemas.openxmlformats.org/drawingml/2006/main" noGrp="1"/>
          </p:cNvSpPr>
          <p:nvPr/>
        </p:nvSpPr>
        <p:spPr>
          <a:xfrm xmlns:a="http://schemas.openxmlformats.org/drawingml/2006/main">
            <a:off x="9201150" y="4305300"/>
            <a:ext cx="1333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F1A14"/>
                </a:solidFill>
                <a:latin typeface="Avenir Next"/>
                <a:ea typeface="Avenir Next"/>
                <a:cs typeface="Avenir Next"/>
              </a:defRPr>
            </a:pPr>
            <a:r>
              <a:rPr sz="1050" b="1">
                <a:solidFill>
                  <a:srgbClr val="1F1A14"/>
                </a:solidFill>
                <a:latin typeface="Avenir Next"/>
                <a:ea typeface="Avenir Next"/>
                <a:cs typeface="Avenir Next"/>
              </a:rPr>
              <a:t>Tái sản xuất</a:t>
            </a:r>
          </a:p>
        </p:txBody>
      </p:sp>
      <p:sp>
        <p:nvSpPr>
          <p:cNvPr id="33" name="">
            <a:extLst xmlns:a="http://schemas.openxmlformats.org/drawingml/2006/main">
              <a:ext uri="{FF2B5EF4-FFF2-40B4-BE49-F238E27FC236}">
                <a16:creationId xmlns:a16="http://schemas.microsoft.com/office/drawing/2014/main" id="{7AAC6099-FD00-40DA-90FD-D3F15B60604B}"/>
              </a:ext>
            </a:extLst>
          </p:cNvPr>
          <p:cNvSpPr>
            <a:spLocks xmlns:a="http://schemas.openxmlformats.org/drawingml/2006/main" noGrp="1"/>
          </p:cNvSpPr>
          <p:nvPr/>
        </p:nvSpPr>
        <p:spPr>
          <a:xfrm xmlns:a="http://schemas.openxmlformats.org/drawingml/2006/main">
            <a:off x="9201150" y="4552950"/>
            <a:ext cx="1333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6A5D4F"/>
                </a:solidFill>
                <a:latin typeface="Avenir Next"/>
                <a:ea typeface="Avenir Next"/>
                <a:cs typeface="Avenir Next"/>
              </a:defRPr>
            </a:pPr>
            <a:r>
              <a:rPr sz="750" b="0">
                <a:solidFill>
                  <a:srgbClr val="6A5D4F"/>
                </a:solidFill>
                <a:latin typeface="Avenir Next"/>
                <a:ea typeface="Avenir Next"/>
                <a:cs typeface="Avenir Next"/>
              </a:rPr>
              <a:t>T' mở chu kỳ mới</a:t>
            </a:r>
          </a:p>
        </p:txBody>
      </p:sp>
      <p:sp>
        <p:nvSpPr>
          <p:cNvPr id="34" name="">
            <a:extLst xmlns:a="http://schemas.openxmlformats.org/drawingml/2006/main">
              <a:ext uri="{FF2B5EF4-FFF2-40B4-BE49-F238E27FC236}">
                <a16:creationId xmlns:a16="http://schemas.microsoft.com/office/drawing/2014/main" id="{B5FF1CA7-F643-4652-9644-834038440FE4}"/>
              </a:ext>
            </a:extLst>
          </p:cNvPr>
          <p:cNvSpPr>
            <a:spLocks xmlns:a="http://schemas.openxmlformats.org/drawingml/2006/main" noGrp="1"/>
          </p:cNvSpPr>
          <p:nvPr/>
        </p:nvSpPr>
        <p:spPr>
          <a:xfrm xmlns:a="http://schemas.openxmlformats.org/drawingml/2006/main">
            <a:off x="1981200" y="5238750"/>
            <a:ext cx="7734300" cy="457200"/>
          </a:xfrm>
          <a:prstGeom xmlns:a="http://schemas.openxmlformats.org/drawingml/2006/main" prst="rect">
            <a:avLst/>
          </a:prstGeom>
          <a:solidFill xmlns:a="http://schemas.openxmlformats.org/drawingml/2006/main">
            <a:srgbClr val="000000">
              <a:alpha val="0"/>
            </a:srgbClr>
          </a:solidFill>
          <a:ln xmlns:a="http://schemas.openxmlformats.org/drawingml/2006/main" w="19050">
            <a:solidFill>
              <a:srgbClr val="8E2D22"/>
            </a:solidFill>
            <a:prstDash val="solid"/>
          </a:ln>
        </p:spPr>
      </p:sp>
      <p:sp>
        <p:nvSpPr>
          <p:cNvPr id="35" name="">
            <a:extLst xmlns:a="http://schemas.openxmlformats.org/drawingml/2006/main">
              <a:ext uri="{FF2B5EF4-FFF2-40B4-BE49-F238E27FC236}">
                <a16:creationId xmlns:a16="http://schemas.microsoft.com/office/drawing/2014/main" id="{14381F8D-E1F6-4051-A283-1E66C5E0E04C}"/>
              </a:ext>
            </a:extLst>
          </p:cNvPr>
          <p:cNvSpPr>
            <a:spLocks xmlns:a="http://schemas.openxmlformats.org/drawingml/2006/main" noGrp="1"/>
          </p:cNvSpPr>
          <p:nvPr/>
        </p:nvSpPr>
        <p:spPr>
          <a:xfrm xmlns:a="http://schemas.openxmlformats.org/drawingml/2006/main">
            <a:off x="2000250" y="5314950"/>
            <a:ext cx="7715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1F1A14"/>
                </a:solidFill>
                <a:latin typeface="Avenir Next"/>
                <a:ea typeface="Avenir Next"/>
                <a:cs typeface="Avenir Next"/>
              </a:defRPr>
            </a:pPr>
            <a:r>
              <a:rPr sz="975" b="1">
                <a:solidFill>
                  <a:srgbClr val="1F1A14"/>
                </a:solidFill>
                <a:latin typeface="Avenir Next"/>
                <a:ea typeface="Avenir Next"/>
                <a:cs typeface="Avenir Next"/>
              </a:rPr>
              <a:t>Khi khâu bán hàng bị kéo dài, thời gian chu chuyển tăng lên; cùng một lượng vốn tạo ra ít vòng quay hơn và khả năng sinh giá trị thặng dư giảm.</a:t>
            </a:r>
          </a:p>
        </p:txBody>
      </p:sp>
      <p:sp>
        <p:nvSpPr>
          <p:cNvPr id="36" name="">
            <a:extLst xmlns:a="http://schemas.openxmlformats.org/drawingml/2006/main">
              <a:ext uri="{FF2B5EF4-FFF2-40B4-BE49-F238E27FC236}">
                <a16:creationId xmlns:a16="http://schemas.microsoft.com/office/drawing/2014/main" id="{0E8DF299-CC7A-4BA2-BB6A-83B8A789575E}"/>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A2B3A69-7E2F-4DC8-95F2-D9949F4D8DE5}"/>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Nguồn: tình huống Alpha Corp giả định trong đề bài</a:t>
            </a:r>
          </a:p>
        </p:txBody>
      </p:sp>
      <p:sp>
        <p:nvSpPr>
          <p:cNvPr id="38" name="">
            <a:extLst xmlns:a="http://schemas.openxmlformats.org/drawingml/2006/main">
              <a:ext uri="{FF2B5EF4-FFF2-40B4-BE49-F238E27FC236}">
                <a16:creationId xmlns:a16="http://schemas.microsoft.com/office/drawing/2014/main" id="{03B39250-4B9C-4A77-984F-6078825E4D69}"/>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06</a:t>
            </a:r>
          </a:p>
        </p:txBody>
      </p:sp>
    </p:spTree>
    <p:extLst>
      <p:ext uri="{BB962C8B-B14F-4D97-AF65-F5344CB8AC3E}">
        <p14:creationId xmlns:p14="http://schemas.microsoft.com/office/powerpoint/2010/main" val="11789052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A3DD49-6099-49AD-BE2D-E046F44E04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279EA4-CF8B-4BB8-B81F-CB2799E95590}"/>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9716C3F9-F4D5-4F51-89BA-F83066B3EEAA}"/>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9532CA93-D790-4126-B444-4390D6A6F7A0}"/>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HỆ QUẢ</a:t>
            </a:r>
          </a:p>
        </p:txBody>
      </p:sp>
      <p:sp>
        <p:nvSpPr>
          <p:cNvPr id="5" name="">
            <a:extLst xmlns:a="http://schemas.openxmlformats.org/drawingml/2006/main">
              <a:ext uri="{FF2B5EF4-FFF2-40B4-BE49-F238E27FC236}">
                <a16:creationId xmlns:a16="http://schemas.microsoft.com/office/drawing/2014/main" id="{3F4DEBF4-A819-45A5-A030-164677506562}"/>
              </a:ext>
            </a:extLst>
          </p:cNvPr>
          <p:cNvSpPr>
            <a:spLocks xmlns:a="http://schemas.openxmlformats.org/drawingml/2006/main" noGrp="1"/>
          </p:cNvSpPr>
          <p:nvPr/>
        </p:nvSpPr>
        <p:spPr>
          <a:xfrm xmlns:a="http://schemas.openxmlformats.org/drawingml/2006/main">
            <a:off x="552450" y="742950"/>
            <a:ext cx="8382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F1A14"/>
                </a:solidFill>
                <a:latin typeface="Georgia"/>
                <a:ea typeface="Georgia"/>
                <a:cs typeface="Georgia"/>
              </a:defRPr>
            </a:pPr>
            <a:r>
              <a:rPr sz="2550" b="1">
                <a:solidFill>
                  <a:srgbClr val="1F1A14"/>
                </a:solidFill>
                <a:latin typeface="Georgia"/>
                <a:ea typeface="Georgia"/>
                <a:cs typeface="Georgia"/>
              </a:rPr>
              <a:t>Một điểm nghẽn trong lưu thông làm tê liệt toàn bộ quá trình tái sản xuất.</a:t>
            </a:r>
          </a:p>
        </p:txBody>
      </p:sp>
      <p:sp>
        <p:nvSpPr>
          <p:cNvPr id="6" name="">
            <a:extLst xmlns:a="http://schemas.openxmlformats.org/drawingml/2006/main">
              <a:ext uri="{FF2B5EF4-FFF2-40B4-BE49-F238E27FC236}">
                <a16:creationId xmlns:a16="http://schemas.microsoft.com/office/drawing/2014/main" id="{085F13E5-F3F9-4320-AD2D-BF9374E4D3ED}"/>
              </a:ext>
            </a:extLst>
          </p:cNvPr>
          <p:cNvSpPr>
            <a:spLocks xmlns:a="http://schemas.openxmlformats.org/drawingml/2006/main" noGrp="1"/>
          </p:cNvSpPr>
          <p:nvPr/>
        </p:nvSpPr>
        <p:spPr>
          <a:xfrm xmlns:a="http://schemas.openxmlformats.org/drawingml/2006/main">
            <a:off x="1085850" y="2190750"/>
            <a:ext cx="7524750" cy="457200"/>
          </a:xfrm>
          <a:prstGeom xmlns:a="http://schemas.openxmlformats.org/drawingml/2006/main" prst="rect">
            <a:avLst/>
          </a:prstGeom>
          <a:solidFill xmlns:a="http://schemas.openxmlformats.org/drawingml/2006/main">
            <a:srgbClr val="8E2D22"/>
          </a:solidFill>
          <a:ln xmlns:a="http://schemas.openxmlformats.org/drawingml/2006/main" w="9525">
            <a:solidFill>
              <a:srgbClr val="8E2D22"/>
            </a:solidFill>
            <a:prstDash val="solid"/>
          </a:ln>
        </p:spPr>
      </p:sp>
      <p:sp>
        <p:nvSpPr>
          <p:cNvPr id="7" name="">
            <a:extLst xmlns:a="http://schemas.openxmlformats.org/drawingml/2006/main">
              <a:ext uri="{FF2B5EF4-FFF2-40B4-BE49-F238E27FC236}">
                <a16:creationId xmlns:a16="http://schemas.microsoft.com/office/drawing/2014/main" id="{09910073-FA56-4CC0-A75A-CFA3B1936B53}"/>
              </a:ext>
            </a:extLst>
          </p:cNvPr>
          <p:cNvSpPr>
            <a:spLocks xmlns:a="http://schemas.openxmlformats.org/drawingml/2006/main" noGrp="1"/>
          </p:cNvSpPr>
          <p:nvPr/>
        </p:nvSpPr>
        <p:spPr>
          <a:xfrm xmlns:a="http://schemas.openxmlformats.org/drawingml/2006/main">
            <a:off x="1371600" y="2286000"/>
            <a:ext cx="2571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FFFFF"/>
                </a:solidFill>
                <a:latin typeface="Avenir Next"/>
                <a:ea typeface="Avenir Next"/>
                <a:cs typeface="Avenir Next"/>
              </a:defRPr>
            </a:pPr>
            <a:r>
              <a:rPr sz="1200" b="1">
                <a:solidFill>
                  <a:srgbClr val="FFFFFF"/>
                </a:solidFill>
                <a:latin typeface="Avenir Next"/>
                <a:ea typeface="Avenir Next"/>
                <a:cs typeface="Avenir Next"/>
              </a:rPr>
              <a:t>Nhà không bán được</a:t>
            </a:r>
          </a:p>
        </p:txBody>
      </p:sp>
      <p:sp>
        <p:nvSpPr>
          <p:cNvPr id="8" name="">
            <a:extLst xmlns:a="http://schemas.openxmlformats.org/drawingml/2006/main">
              <a:ext uri="{FF2B5EF4-FFF2-40B4-BE49-F238E27FC236}">
                <a16:creationId xmlns:a16="http://schemas.microsoft.com/office/drawing/2014/main" id="{9CCD49BA-EAFF-4AB9-B599-9581305730C8}"/>
              </a:ext>
            </a:extLst>
          </p:cNvPr>
          <p:cNvSpPr>
            <a:spLocks xmlns:a="http://schemas.openxmlformats.org/drawingml/2006/main" noGrp="1"/>
          </p:cNvSpPr>
          <p:nvPr/>
        </p:nvSpPr>
        <p:spPr>
          <a:xfrm xmlns:a="http://schemas.openxmlformats.org/drawingml/2006/main">
            <a:off x="4305300" y="2305050"/>
            <a:ext cx="327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F6EFD8"/>
                </a:solidFill>
                <a:latin typeface="Avenir Next"/>
                <a:ea typeface="Avenir Next"/>
                <a:cs typeface="Avenir Next"/>
              </a:defRPr>
            </a:pPr>
            <a:r>
              <a:rPr sz="825" b="0">
                <a:solidFill>
                  <a:srgbClr val="F6EFD8"/>
                </a:solidFill>
                <a:latin typeface="Avenir Next"/>
                <a:ea typeface="Avenir Next"/>
                <a:cs typeface="Avenir Next"/>
              </a:rPr>
              <a:t>H' không chuyển hóa thành T'</a:t>
            </a:r>
          </a:p>
        </p:txBody>
      </p:sp>
      <p:sp>
        <p:nvSpPr>
          <p:cNvPr id="9" name="">
            <a:extLst xmlns:a="http://schemas.openxmlformats.org/drawingml/2006/main">
              <a:ext uri="{FF2B5EF4-FFF2-40B4-BE49-F238E27FC236}">
                <a16:creationId xmlns:a16="http://schemas.microsoft.com/office/drawing/2014/main" id="{98037DD8-3C51-48C0-960B-C0811EA63527}"/>
              </a:ext>
            </a:extLst>
          </p:cNvPr>
          <p:cNvSpPr>
            <a:spLocks xmlns:a="http://schemas.openxmlformats.org/drawingml/2006/main" noGrp="1"/>
          </p:cNvSpPr>
          <p:nvPr/>
        </p:nvSpPr>
        <p:spPr>
          <a:xfrm xmlns:a="http://schemas.openxmlformats.org/drawingml/2006/main">
            <a:off x="4419600" y="2705100"/>
            <a:ext cx="133350" cy="1333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47FB484-7BDC-4912-B1EF-220973B0F8BE}"/>
              </a:ext>
            </a:extLst>
          </p:cNvPr>
          <p:cNvSpPr>
            <a:spLocks xmlns:a="http://schemas.openxmlformats.org/drawingml/2006/main" noGrp="1"/>
          </p:cNvSpPr>
          <p:nvPr/>
        </p:nvSpPr>
        <p:spPr>
          <a:xfrm xmlns:a="http://schemas.openxmlformats.org/drawingml/2006/main">
            <a:off x="4476750" y="2800350"/>
            <a:ext cx="19050" cy="209550"/>
          </a:xfrm>
          <a:prstGeom xmlns:a="http://schemas.openxmlformats.org/drawingml/2006/main" prst="rect">
            <a:avLst/>
          </a:prstGeom>
          <a:solidFill xmlns:a="http://schemas.openxmlformats.org/drawingml/2006/main">
            <a:srgbClr val="8E2D2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D21B429-EC75-486E-ADB7-2643C68B6098}"/>
              </a:ext>
            </a:extLst>
          </p:cNvPr>
          <p:cNvSpPr>
            <a:spLocks xmlns:a="http://schemas.openxmlformats.org/drawingml/2006/main" noGrp="1"/>
          </p:cNvSpPr>
          <p:nvPr/>
        </p:nvSpPr>
        <p:spPr>
          <a:xfrm xmlns:a="http://schemas.openxmlformats.org/drawingml/2006/main">
            <a:off x="1257300" y="2895600"/>
            <a:ext cx="7315200" cy="4572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12" name="">
            <a:extLst xmlns:a="http://schemas.openxmlformats.org/drawingml/2006/main">
              <a:ext uri="{FF2B5EF4-FFF2-40B4-BE49-F238E27FC236}">
                <a16:creationId xmlns:a16="http://schemas.microsoft.com/office/drawing/2014/main" id="{658C147F-A55C-4251-9C03-21D1D94B516A}"/>
              </a:ext>
            </a:extLst>
          </p:cNvPr>
          <p:cNvSpPr>
            <a:spLocks xmlns:a="http://schemas.openxmlformats.org/drawingml/2006/main" noGrp="1"/>
          </p:cNvSpPr>
          <p:nvPr/>
        </p:nvSpPr>
        <p:spPr>
          <a:xfrm xmlns:a="http://schemas.openxmlformats.org/drawingml/2006/main">
            <a:off x="1543050" y="2990850"/>
            <a:ext cx="2571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Không thu tiền</a:t>
            </a:r>
          </a:p>
        </p:txBody>
      </p:sp>
      <p:sp>
        <p:nvSpPr>
          <p:cNvPr id="13" name="">
            <a:extLst xmlns:a="http://schemas.openxmlformats.org/drawingml/2006/main">
              <a:ext uri="{FF2B5EF4-FFF2-40B4-BE49-F238E27FC236}">
                <a16:creationId xmlns:a16="http://schemas.microsoft.com/office/drawing/2014/main" id="{A3CACE22-F72B-4D0C-922E-3E9A727390AE}"/>
              </a:ext>
            </a:extLst>
          </p:cNvPr>
          <p:cNvSpPr>
            <a:spLocks xmlns:a="http://schemas.openxmlformats.org/drawingml/2006/main" noGrp="1"/>
          </p:cNvSpPr>
          <p:nvPr/>
        </p:nvSpPr>
        <p:spPr>
          <a:xfrm xmlns:a="http://schemas.openxmlformats.org/drawingml/2006/main">
            <a:off x="4476750" y="3009900"/>
            <a:ext cx="327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A5D4F"/>
                </a:solidFill>
                <a:latin typeface="Avenir Next"/>
                <a:ea typeface="Avenir Next"/>
                <a:cs typeface="Avenir Next"/>
              </a:defRPr>
            </a:pPr>
            <a:r>
              <a:rPr sz="825" b="0">
                <a:solidFill>
                  <a:srgbClr val="6A5D4F"/>
                </a:solidFill>
                <a:latin typeface="Avenir Next"/>
                <a:ea typeface="Avenir Next"/>
                <a:cs typeface="Avenir Next"/>
              </a:rPr>
              <a:t>dòng tiền hoạt động bị âm</a:t>
            </a:r>
          </a:p>
        </p:txBody>
      </p:sp>
      <p:sp>
        <p:nvSpPr>
          <p:cNvPr id="14" name="">
            <a:extLst xmlns:a="http://schemas.openxmlformats.org/drawingml/2006/main">
              <a:ext uri="{FF2B5EF4-FFF2-40B4-BE49-F238E27FC236}">
                <a16:creationId xmlns:a16="http://schemas.microsoft.com/office/drawing/2014/main" id="{A11DCDB7-9BA0-48BE-AD22-EB8424EF7916}"/>
              </a:ext>
            </a:extLst>
          </p:cNvPr>
          <p:cNvSpPr>
            <a:spLocks xmlns:a="http://schemas.openxmlformats.org/drawingml/2006/main" noGrp="1"/>
          </p:cNvSpPr>
          <p:nvPr/>
        </p:nvSpPr>
        <p:spPr>
          <a:xfrm xmlns:a="http://schemas.openxmlformats.org/drawingml/2006/main">
            <a:off x="4419600" y="3409950"/>
            <a:ext cx="133350" cy="1333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C91C745-4BF1-4641-A1E0-0B2D57D6F2FB}"/>
              </a:ext>
            </a:extLst>
          </p:cNvPr>
          <p:cNvSpPr>
            <a:spLocks xmlns:a="http://schemas.openxmlformats.org/drawingml/2006/main" noGrp="1"/>
          </p:cNvSpPr>
          <p:nvPr/>
        </p:nvSpPr>
        <p:spPr>
          <a:xfrm xmlns:a="http://schemas.openxmlformats.org/drawingml/2006/main">
            <a:off x="4476750" y="3505200"/>
            <a:ext cx="19050" cy="2095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72F8C86-0F1B-4999-B695-107DE0CB652C}"/>
              </a:ext>
            </a:extLst>
          </p:cNvPr>
          <p:cNvSpPr>
            <a:spLocks xmlns:a="http://schemas.openxmlformats.org/drawingml/2006/main" noGrp="1"/>
          </p:cNvSpPr>
          <p:nvPr/>
        </p:nvSpPr>
        <p:spPr>
          <a:xfrm xmlns:a="http://schemas.openxmlformats.org/drawingml/2006/main">
            <a:off x="1428750" y="3600450"/>
            <a:ext cx="7105650" cy="4572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17" name="">
            <a:extLst xmlns:a="http://schemas.openxmlformats.org/drawingml/2006/main">
              <a:ext uri="{FF2B5EF4-FFF2-40B4-BE49-F238E27FC236}">
                <a16:creationId xmlns:a16="http://schemas.microsoft.com/office/drawing/2014/main" id="{C35FB197-1E8C-4BAF-9D74-9CC41B26411F}"/>
              </a:ext>
            </a:extLst>
          </p:cNvPr>
          <p:cNvSpPr>
            <a:spLocks xmlns:a="http://schemas.openxmlformats.org/drawingml/2006/main" noGrp="1"/>
          </p:cNvSpPr>
          <p:nvPr/>
        </p:nvSpPr>
        <p:spPr>
          <a:xfrm xmlns:a="http://schemas.openxmlformats.org/drawingml/2006/main">
            <a:off x="1714500" y="3695700"/>
            <a:ext cx="2571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Không trả nợ</a:t>
            </a:r>
          </a:p>
        </p:txBody>
      </p:sp>
      <p:sp>
        <p:nvSpPr>
          <p:cNvPr id="18" name="">
            <a:extLst xmlns:a="http://schemas.openxmlformats.org/drawingml/2006/main">
              <a:ext uri="{FF2B5EF4-FFF2-40B4-BE49-F238E27FC236}">
                <a16:creationId xmlns:a16="http://schemas.microsoft.com/office/drawing/2014/main" id="{F54C7906-A647-4DA0-B990-FD4963990413}"/>
              </a:ext>
            </a:extLst>
          </p:cNvPr>
          <p:cNvSpPr>
            <a:spLocks xmlns:a="http://schemas.openxmlformats.org/drawingml/2006/main" noGrp="1"/>
          </p:cNvSpPr>
          <p:nvPr/>
        </p:nvSpPr>
        <p:spPr>
          <a:xfrm xmlns:a="http://schemas.openxmlformats.org/drawingml/2006/main">
            <a:off x="4648200" y="3714750"/>
            <a:ext cx="327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A5D4F"/>
                </a:solidFill>
                <a:latin typeface="Avenir Next"/>
                <a:ea typeface="Avenir Next"/>
                <a:cs typeface="Avenir Next"/>
              </a:defRPr>
            </a:pPr>
            <a:r>
              <a:rPr sz="825" b="0">
                <a:solidFill>
                  <a:srgbClr val="6A5D4F"/>
                </a:solidFill>
                <a:latin typeface="Avenir Next"/>
                <a:ea typeface="Avenir Next"/>
                <a:cs typeface="Avenir Next"/>
              </a:rPr>
              <a:t>áp lực lãi vay và ngân hàng tăng</a:t>
            </a:r>
          </a:p>
        </p:txBody>
      </p:sp>
      <p:sp>
        <p:nvSpPr>
          <p:cNvPr id="19" name="">
            <a:extLst xmlns:a="http://schemas.openxmlformats.org/drawingml/2006/main">
              <a:ext uri="{FF2B5EF4-FFF2-40B4-BE49-F238E27FC236}">
                <a16:creationId xmlns:a16="http://schemas.microsoft.com/office/drawing/2014/main" id="{06AAD8D3-276E-4C8A-A371-1E4D38B5D108}"/>
              </a:ext>
            </a:extLst>
          </p:cNvPr>
          <p:cNvSpPr>
            <a:spLocks xmlns:a="http://schemas.openxmlformats.org/drawingml/2006/main" noGrp="1"/>
          </p:cNvSpPr>
          <p:nvPr/>
        </p:nvSpPr>
        <p:spPr>
          <a:xfrm xmlns:a="http://schemas.openxmlformats.org/drawingml/2006/main">
            <a:off x="4419600" y="4114800"/>
            <a:ext cx="133350" cy="1333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415A1FF-D404-487F-BC2F-0A5373EAD80C}"/>
              </a:ext>
            </a:extLst>
          </p:cNvPr>
          <p:cNvSpPr>
            <a:spLocks xmlns:a="http://schemas.openxmlformats.org/drawingml/2006/main" noGrp="1"/>
          </p:cNvSpPr>
          <p:nvPr/>
        </p:nvSpPr>
        <p:spPr>
          <a:xfrm xmlns:a="http://schemas.openxmlformats.org/drawingml/2006/main">
            <a:off x="4476750" y="4210050"/>
            <a:ext cx="19050" cy="2095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E152775-8BB9-40D6-9BC1-9569158C79A9}"/>
              </a:ext>
            </a:extLst>
          </p:cNvPr>
          <p:cNvSpPr>
            <a:spLocks xmlns:a="http://schemas.openxmlformats.org/drawingml/2006/main" noGrp="1"/>
          </p:cNvSpPr>
          <p:nvPr/>
        </p:nvSpPr>
        <p:spPr>
          <a:xfrm xmlns:a="http://schemas.openxmlformats.org/drawingml/2006/main">
            <a:off x="1600200" y="4305300"/>
            <a:ext cx="6896100" cy="4572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22" name="">
            <a:extLst xmlns:a="http://schemas.openxmlformats.org/drawingml/2006/main">
              <a:ext uri="{FF2B5EF4-FFF2-40B4-BE49-F238E27FC236}">
                <a16:creationId xmlns:a16="http://schemas.microsoft.com/office/drawing/2014/main" id="{2644B220-5B13-4C89-87BD-B3CA68B59748}"/>
              </a:ext>
            </a:extLst>
          </p:cNvPr>
          <p:cNvSpPr>
            <a:spLocks xmlns:a="http://schemas.openxmlformats.org/drawingml/2006/main" noGrp="1"/>
          </p:cNvSpPr>
          <p:nvPr/>
        </p:nvSpPr>
        <p:spPr>
          <a:xfrm xmlns:a="http://schemas.openxmlformats.org/drawingml/2006/main">
            <a:off x="1885950" y="4400550"/>
            <a:ext cx="2571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Không trả nhà cung cấp / lương</a:t>
            </a:r>
          </a:p>
        </p:txBody>
      </p:sp>
      <p:sp>
        <p:nvSpPr>
          <p:cNvPr id="23" name="">
            <a:extLst xmlns:a="http://schemas.openxmlformats.org/drawingml/2006/main">
              <a:ext uri="{FF2B5EF4-FFF2-40B4-BE49-F238E27FC236}">
                <a16:creationId xmlns:a16="http://schemas.microsoft.com/office/drawing/2014/main" id="{7E64BEE6-A408-44DB-819B-0425694D763F}"/>
              </a:ext>
            </a:extLst>
          </p:cNvPr>
          <p:cNvSpPr>
            <a:spLocks xmlns:a="http://schemas.openxmlformats.org/drawingml/2006/main" noGrp="1"/>
          </p:cNvSpPr>
          <p:nvPr/>
        </p:nvSpPr>
        <p:spPr>
          <a:xfrm xmlns:a="http://schemas.openxmlformats.org/drawingml/2006/main">
            <a:off x="4819650" y="4419600"/>
            <a:ext cx="327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A5D4F"/>
                </a:solidFill>
                <a:latin typeface="Avenir Next"/>
                <a:ea typeface="Avenir Next"/>
                <a:cs typeface="Avenir Next"/>
              </a:defRPr>
            </a:pPr>
            <a:r>
              <a:rPr sz="825" b="0">
                <a:solidFill>
                  <a:srgbClr val="6A5D4F"/>
                </a:solidFill>
                <a:latin typeface="Avenir Next"/>
                <a:ea typeface="Avenir Next"/>
                <a:cs typeface="Avenir Next"/>
              </a:rPr>
              <a:t>quan hệ sản xuất bị gián đoạn</a:t>
            </a:r>
          </a:p>
        </p:txBody>
      </p:sp>
      <p:sp>
        <p:nvSpPr>
          <p:cNvPr id="24" name="">
            <a:extLst xmlns:a="http://schemas.openxmlformats.org/drawingml/2006/main">
              <a:ext uri="{FF2B5EF4-FFF2-40B4-BE49-F238E27FC236}">
                <a16:creationId xmlns:a16="http://schemas.microsoft.com/office/drawing/2014/main" id="{A9EC8B47-3EE1-4C9E-89E3-BAFA32FE0CFD}"/>
              </a:ext>
            </a:extLst>
          </p:cNvPr>
          <p:cNvSpPr>
            <a:spLocks xmlns:a="http://schemas.openxmlformats.org/drawingml/2006/main" noGrp="1"/>
          </p:cNvSpPr>
          <p:nvPr/>
        </p:nvSpPr>
        <p:spPr>
          <a:xfrm xmlns:a="http://schemas.openxmlformats.org/drawingml/2006/main">
            <a:off x="4419600" y="4819650"/>
            <a:ext cx="133350" cy="1333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2F536CF-649B-43E9-B8C8-4D63B6C80C01}"/>
              </a:ext>
            </a:extLst>
          </p:cNvPr>
          <p:cNvSpPr>
            <a:spLocks xmlns:a="http://schemas.openxmlformats.org/drawingml/2006/main" noGrp="1"/>
          </p:cNvSpPr>
          <p:nvPr/>
        </p:nvSpPr>
        <p:spPr>
          <a:xfrm xmlns:a="http://schemas.openxmlformats.org/drawingml/2006/main">
            <a:off x="4476750" y="4914900"/>
            <a:ext cx="19050" cy="2095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DFF03FF-AA5C-4054-AD1D-8D1091457E95}"/>
              </a:ext>
            </a:extLst>
          </p:cNvPr>
          <p:cNvSpPr>
            <a:spLocks xmlns:a="http://schemas.openxmlformats.org/drawingml/2006/main" noGrp="1"/>
          </p:cNvSpPr>
          <p:nvPr/>
        </p:nvSpPr>
        <p:spPr>
          <a:xfrm xmlns:a="http://schemas.openxmlformats.org/drawingml/2006/main">
            <a:off x="1771650" y="5010150"/>
            <a:ext cx="6686550" cy="4572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27" name="">
            <a:extLst xmlns:a="http://schemas.openxmlformats.org/drawingml/2006/main">
              <a:ext uri="{FF2B5EF4-FFF2-40B4-BE49-F238E27FC236}">
                <a16:creationId xmlns:a16="http://schemas.microsoft.com/office/drawing/2014/main" id="{E36CC41D-C412-4EED-AAC9-0935EF0C2F16}"/>
              </a:ext>
            </a:extLst>
          </p:cNvPr>
          <p:cNvSpPr>
            <a:spLocks xmlns:a="http://schemas.openxmlformats.org/drawingml/2006/main" noGrp="1"/>
          </p:cNvSpPr>
          <p:nvPr/>
        </p:nvSpPr>
        <p:spPr>
          <a:xfrm xmlns:a="http://schemas.openxmlformats.org/drawingml/2006/main">
            <a:off x="2057400" y="5105400"/>
            <a:ext cx="2571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F1A14"/>
                </a:solidFill>
                <a:latin typeface="Avenir Next"/>
                <a:ea typeface="Avenir Next"/>
                <a:cs typeface="Avenir Next"/>
              </a:defRPr>
            </a:pPr>
            <a:r>
              <a:rPr sz="1200" b="1">
                <a:solidFill>
                  <a:srgbClr val="1F1A14"/>
                </a:solidFill>
                <a:latin typeface="Avenir Next"/>
                <a:ea typeface="Avenir Next"/>
                <a:cs typeface="Avenir Next"/>
              </a:rPr>
              <a:t>Không tái đầu tư</a:t>
            </a:r>
          </a:p>
        </p:txBody>
      </p:sp>
      <p:sp>
        <p:nvSpPr>
          <p:cNvPr id="28" name="">
            <a:extLst xmlns:a="http://schemas.openxmlformats.org/drawingml/2006/main">
              <a:ext uri="{FF2B5EF4-FFF2-40B4-BE49-F238E27FC236}">
                <a16:creationId xmlns:a16="http://schemas.microsoft.com/office/drawing/2014/main" id="{1B5BE8B3-9FC9-4212-8BB3-616A48F5E918}"/>
              </a:ext>
            </a:extLst>
          </p:cNvPr>
          <p:cNvSpPr>
            <a:spLocks xmlns:a="http://schemas.openxmlformats.org/drawingml/2006/main" noGrp="1"/>
          </p:cNvSpPr>
          <p:nvPr/>
        </p:nvSpPr>
        <p:spPr>
          <a:xfrm xmlns:a="http://schemas.openxmlformats.org/drawingml/2006/main">
            <a:off x="4991100" y="5124450"/>
            <a:ext cx="3276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A5D4F"/>
                </a:solidFill>
                <a:latin typeface="Avenir Next"/>
                <a:ea typeface="Avenir Next"/>
                <a:cs typeface="Avenir Next"/>
              </a:defRPr>
            </a:pPr>
            <a:r>
              <a:rPr sz="825" b="0">
                <a:solidFill>
                  <a:srgbClr val="6A5D4F"/>
                </a:solidFill>
                <a:latin typeface="Avenir Next"/>
                <a:ea typeface="Avenir Next"/>
                <a:cs typeface="Avenir Next"/>
              </a:rPr>
              <a:t>chu kỳ tư bản mới không khởi động</a:t>
            </a:r>
          </a:p>
        </p:txBody>
      </p:sp>
      <p:sp>
        <p:nvSpPr>
          <p:cNvPr id="29" name="">
            <a:extLst xmlns:a="http://schemas.openxmlformats.org/drawingml/2006/main">
              <a:ext uri="{FF2B5EF4-FFF2-40B4-BE49-F238E27FC236}">
                <a16:creationId xmlns:a16="http://schemas.microsoft.com/office/drawing/2014/main" id="{DEEB86A5-EB9C-4605-90E3-0C03C16F95FD}"/>
              </a:ext>
            </a:extLst>
          </p:cNvPr>
          <p:cNvSpPr>
            <a:spLocks xmlns:a="http://schemas.openxmlformats.org/drawingml/2006/main" noGrp="1"/>
          </p:cNvSpPr>
          <p:nvPr/>
        </p:nvSpPr>
        <p:spPr>
          <a:xfrm xmlns:a="http://schemas.openxmlformats.org/drawingml/2006/main">
            <a:off x="8648700" y="2228850"/>
            <a:ext cx="2095500" cy="25527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7F2269C3-08CD-43D9-9ACB-E3EA7C1BBBB7}"/>
              </a:ext>
            </a:extLst>
          </p:cNvPr>
          <p:cNvSpPr>
            <a:spLocks xmlns:a="http://schemas.openxmlformats.org/drawingml/2006/main" noGrp="1"/>
          </p:cNvSpPr>
          <p:nvPr/>
        </p:nvSpPr>
        <p:spPr>
          <a:xfrm xmlns:a="http://schemas.openxmlformats.org/drawingml/2006/main">
            <a:off x="8915400" y="2552700"/>
            <a:ext cx="1562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E8D8C5"/>
                </a:solidFill>
                <a:latin typeface="Avenir Next"/>
                <a:ea typeface="Avenir Next"/>
                <a:cs typeface="Avenir Next"/>
              </a:defRPr>
            </a:pPr>
            <a:r>
              <a:rPr sz="975" b="1">
                <a:solidFill>
                  <a:srgbClr val="E8D8C5"/>
                </a:solidFill>
                <a:latin typeface="Avenir Next"/>
                <a:ea typeface="Avenir Next"/>
                <a:cs typeface="Avenir Next"/>
              </a:rPr>
              <a:t>Ý nghĩa lý luận</a:t>
            </a:r>
          </a:p>
        </p:txBody>
      </p:sp>
      <p:sp>
        <p:nvSpPr>
          <p:cNvPr id="31" name="">
            <a:extLst xmlns:a="http://schemas.openxmlformats.org/drawingml/2006/main">
              <a:ext uri="{FF2B5EF4-FFF2-40B4-BE49-F238E27FC236}">
                <a16:creationId xmlns:a16="http://schemas.microsoft.com/office/drawing/2014/main" id="{3967A850-8CD1-491E-AE69-25BFA3CC670E}"/>
              </a:ext>
            </a:extLst>
          </p:cNvPr>
          <p:cNvSpPr>
            <a:spLocks xmlns:a="http://schemas.openxmlformats.org/drawingml/2006/main" noGrp="1"/>
          </p:cNvSpPr>
          <p:nvPr/>
        </p:nvSpPr>
        <p:spPr>
          <a:xfrm xmlns:a="http://schemas.openxmlformats.org/drawingml/2006/main">
            <a:off x="8877300" y="2914650"/>
            <a:ext cx="163830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1">
                <a:solidFill>
                  <a:srgbClr val="FFFFFF"/>
                </a:solidFill>
                <a:latin typeface="Georgia"/>
                <a:ea typeface="Georgia"/>
                <a:cs typeface="Georgia"/>
              </a:defRPr>
            </a:pPr>
            <a:r>
              <a:rPr sz="1163" b="1">
                <a:solidFill>
                  <a:srgbClr val="FFFFFF"/>
                </a:solidFill>
                <a:latin typeface="Georgia"/>
                <a:ea typeface="Georgia"/>
                <a:cs typeface="Georgia"/>
              </a:rPr>
              <a:t>Giá trị thặng dư chỉ được thực hiện khi hàng hóa bán được. Vì vậy, sản xuất và lưu thông không tách rời nhau trong vận động của tư bản.</a:t>
            </a:r>
          </a:p>
        </p:txBody>
      </p:sp>
      <p:sp>
        <p:nvSpPr>
          <p:cNvPr id="32" name="">
            <a:extLst xmlns:a="http://schemas.openxmlformats.org/drawingml/2006/main">
              <a:ext uri="{FF2B5EF4-FFF2-40B4-BE49-F238E27FC236}">
                <a16:creationId xmlns:a16="http://schemas.microsoft.com/office/drawing/2014/main" id="{00C1BCD6-D229-47D2-914D-5C8B34471580}"/>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BFDE7E00-DC6E-4346-B636-C7FCCB253E99}"/>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Nguồn: tình huống Alpha Corp giả định trong đề bài</a:t>
            </a:r>
          </a:p>
        </p:txBody>
      </p:sp>
      <p:sp>
        <p:nvSpPr>
          <p:cNvPr id="34" name="">
            <a:extLst xmlns:a="http://schemas.openxmlformats.org/drawingml/2006/main">
              <a:ext uri="{FF2B5EF4-FFF2-40B4-BE49-F238E27FC236}">
                <a16:creationId xmlns:a16="http://schemas.microsoft.com/office/drawing/2014/main" id="{1F8F1786-D992-4835-B384-BE903BFC1484}"/>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07</a:t>
            </a:r>
          </a:p>
        </p:txBody>
      </p:sp>
    </p:spTree>
    <p:extLst>
      <p:ext uri="{BB962C8B-B14F-4D97-AF65-F5344CB8AC3E}">
        <p14:creationId xmlns:p14="http://schemas.microsoft.com/office/powerpoint/2010/main" val="166586602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32C3949-D114-4272-8720-29FCC15DA1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EFD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31BCA93-768A-4C7B-953D-8A135CD208A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71514"/>
          </a:solidFill>
          <a:ln xmlns:a="http://schemas.openxmlformats.org/drawingml/2006/main" w="0">
            <a:solidFill>
              <a:srgbClr val="000000">
                <a:alpha val="0"/>
              </a:srgbClr>
            </a:solidFill>
            <a:prstDash val="solid"/>
          </a:ln>
        </p:spPr>
      </p:sp>
      <p:sp>
        <p:nvSpPr>
          <p:cNvPr id="3" name="kicker-marker">
            <a:extLst xmlns:a="http://schemas.openxmlformats.org/drawingml/2006/main">
              <a:ext uri="{FF2B5EF4-FFF2-40B4-BE49-F238E27FC236}">
                <a16:creationId xmlns:a16="http://schemas.microsoft.com/office/drawing/2014/main" id="{7E109196-25E3-413A-BB60-D088BD9075EB}"/>
              </a:ext>
            </a:extLst>
          </p:cNvPr>
          <p:cNvSpPr>
            <a:spLocks xmlns:a="http://schemas.openxmlformats.org/drawingml/2006/main" noGrp="1"/>
          </p:cNvSpPr>
          <p:nvPr/>
        </p:nvSpPr>
        <p:spPr>
          <a:xfrm xmlns:a="http://schemas.openxmlformats.org/drawingml/2006/main">
            <a:off x="552450" y="466725"/>
            <a:ext cx="95250" cy="952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4" name="kicker-label">
            <a:extLst xmlns:a="http://schemas.openxmlformats.org/drawingml/2006/main">
              <a:ext uri="{FF2B5EF4-FFF2-40B4-BE49-F238E27FC236}">
                <a16:creationId xmlns:a16="http://schemas.microsoft.com/office/drawing/2014/main" id="{A5EB4E0B-BD67-461F-BB0E-0ADBBF0481C9}"/>
              </a:ext>
            </a:extLst>
          </p:cNvPr>
          <p:cNvSpPr>
            <a:spLocks xmlns:a="http://schemas.openxmlformats.org/drawingml/2006/main" noGrp="1"/>
          </p:cNvSpPr>
          <p:nvPr/>
        </p:nvSpPr>
        <p:spPr>
          <a:xfrm xmlns:a="http://schemas.openxmlformats.org/drawingml/2006/main">
            <a:off x="762000" y="419100"/>
            <a:ext cx="495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6A5D4F"/>
                </a:solidFill>
                <a:latin typeface="Avenir Next"/>
                <a:ea typeface="Avenir Next"/>
                <a:cs typeface="Avenir Next"/>
              </a:defRPr>
            </a:pPr>
            <a:r>
              <a:rPr sz="713" b="1">
                <a:solidFill>
                  <a:srgbClr val="6A5D4F"/>
                </a:solidFill>
                <a:latin typeface="Avenir Next"/>
                <a:ea typeface="Avenir Next"/>
                <a:cs typeface="Avenir Next"/>
              </a:rPr>
              <a:t>KỊCH BẢN TRÌNH BÀY</a:t>
            </a:r>
          </a:p>
        </p:txBody>
      </p:sp>
      <p:sp>
        <p:nvSpPr>
          <p:cNvPr id="5" name="">
            <a:extLst xmlns:a="http://schemas.openxmlformats.org/drawingml/2006/main">
              <a:ext uri="{FF2B5EF4-FFF2-40B4-BE49-F238E27FC236}">
                <a16:creationId xmlns:a16="http://schemas.microsoft.com/office/drawing/2014/main" id="{3893F56C-BA14-4087-AD45-116EDA645BC6}"/>
              </a:ext>
            </a:extLst>
          </p:cNvPr>
          <p:cNvSpPr>
            <a:spLocks xmlns:a="http://schemas.openxmlformats.org/drawingml/2006/main" noGrp="1"/>
          </p:cNvSpPr>
          <p:nvPr/>
        </p:nvSpPr>
        <p:spPr>
          <a:xfrm xmlns:a="http://schemas.openxmlformats.org/drawingml/2006/main">
            <a:off x="552450" y="742950"/>
            <a:ext cx="9334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1F1A14"/>
                </a:solidFill>
                <a:latin typeface="Georgia"/>
                <a:ea typeface="Georgia"/>
                <a:cs typeface="Georgia"/>
              </a:defRPr>
            </a:pPr>
            <a:r>
              <a:rPr sz="2400" b="1">
                <a:solidFill>
                  <a:srgbClr val="1F1A14"/>
                </a:solidFill>
                <a:latin typeface="Georgia"/>
                <a:ea typeface="Georgia"/>
                <a:cs typeface="Georgia"/>
              </a:rPr>
              <a:t>Có thể dựng bài như một phóng sự ngắn: tài sản lớn, dòng tiền đứt, tư bản ngừng vận động.</a:t>
            </a:r>
          </a:p>
        </p:txBody>
      </p:sp>
      <p:sp>
        <p:nvSpPr>
          <p:cNvPr id="6" name="">
            <a:extLst xmlns:a="http://schemas.openxmlformats.org/drawingml/2006/main">
              <a:ext uri="{FF2B5EF4-FFF2-40B4-BE49-F238E27FC236}">
                <a16:creationId xmlns:a16="http://schemas.microsoft.com/office/drawing/2014/main" id="{2C09E89B-50B2-4E40-B49A-57EDC5CC431D}"/>
              </a:ext>
            </a:extLst>
          </p:cNvPr>
          <p:cNvSpPr>
            <a:spLocks xmlns:a="http://schemas.openxmlformats.org/drawingml/2006/main" noGrp="1"/>
          </p:cNvSpPr>
          <p:nvPr/>
        </p:nvSpPr>
        <p:spPr>
          <a:xfrm xmlns:a="http://schemas.openxmlformats.org/drawingml/2006/main">
            <a:off x="838200" y="2266950"/>
            <a:ext cx="4572000" cy="11430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7" name="">
            <a:extLst xmlns:a="http://schemas.openxmlformats.org/drawingml/2006/main">
              <a:ext uri="{FF2B5EF4-FFF2-40B4-BE49-F238E27FC236}">
                <a16:creationId xmlns:a16="http://schemas.microsoft.com/office/drawing/2014/main" id="{720C2EA8-D2F0-4AC8-B820-05A34C54E331}"/>
              </a:ext>
            </a:extLst>
          </p:cNvPr>
          <p:cNvSpPr>
            <a:spLocks xmlns:a="http://schemas.openxmlformats.org/drawingml/2006/main" noGrp="1"/>
          </p:cNvSpPr>
          <p:nvPr/>
        </p:nvSpPr>
        <p:spPr>
          <a:xfrm xmlns:a="http://schemas.openxmlformats.org/drawingml/2006/main">
            <a:off x="1085850" y="24765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B75D32"/>
                </a:solidFill>
                <a:latin typeface="Avenir Next"/>
                <a:ea typeface="Avenir Next"/>
                <a:cs typeface="Avenir Next"/>
              </a:defRPr>
            </a:pPr>
            <a:r>
              <a:rPr sz="1163" b="1">
                <a:solidFill>
                  <a:srgbClr val="B75D32"/>
                </a:solidFill>
                <a:latin typeface="Avenir Next"/>
                <a:ea typeface="Avenir Next"/>
                <a:cs typeface="Avenir Next"/>
              </a:rPr>
              <a:t>1. Mở cảnh</a:t>
            </a:r>
          </a:p>
        </p:txBody>
      </p:sp>
      <p:sp>
        <p:nvSpPr>
          <p:cNvPr id="8" name="">
            <a:extLst xmlns:a="http://schemas.openxmlformats.org/drawingml/2006/main">
              <a:ext uri="{FF2B5EF4-FFF2-40B4-BE49-F238E27FC236}">
                <a16:creationId xmlns:a16="http://schemas.microsoft.com/office/drawing/2014/main" id="{A21569A5-8B8B-47B7-86DE-6A540571AF76}"/>
              </a:ext>
            </a:extLst>
          </p:cNvPr>
          <p:cNvSpPr>
            <a:spLocks xmlns:a="http://schemas.openxmlformats.org/drawingml/2006/main" noGrp="1"/>
          </p:cNvSpPr>
          <p:nvPr/>
        </p:nvSpPr>
        <p:spPr>
          <a:xfrm xmlns:a="http://schemas.openxmlformats.org/drawingml/2006/main">
            <a:off x="1085850" y="2800350"/>
            <a:ext cx="800100" cy="190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D48CDEF-5E11-4AB0-A163-041394FF6EEA}"/>
              </a:ext>
            </a:extLst>
          </p:cNvPr>
          <p:cNvSpPr>
            <a:spLocks xmlns:a="http://schemas.openxmlformats.org/drawingml/2006/main" noGrp="1"/>
          </p:cNvSpPr>
          <p:nvPr/>
        </p:nvSpPr>
        <p:spPr>
          <a:xfrm xmlns:a="http://schemas.openxmlformats.org/drawingml/2006/main">
            <a:off x="2800350" y="2457450"/>
            <a:ext cx="2247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A5D4F"/>
                </a:solidFill>
                <a:latin typeface="Avenir Next"/>
                <a:ea typeface="Avenir Next"/>
                <a:cs typeface="Avenir Next"/>
              </a:defRPr>
            </a:pPr>
            <a:r>
              <a:rPr sz="938" b="0">
                <a:solidFill>
                  <a:srgbClr val="6A5D4F"/>
                </a:solidFill>
                <a:latin typeface="Avenir Next"/>
                <a:ea typeface="Avenir Next"/>
                <a:cs typeface="Avenir Next"/>
              </a:rPr>
              <a:t>Bản tin thị trường: tín dụng siết, lãi suất tăng, người mua nhà rút lui.</a:t>
            </a:r>
          </a:p>
        </p:txBody>
      </p:sp>
      <p:sp>
        <p:nvSpPr>
          <p:cNvPr id="10" name="">
            <a:extLst xmlns:a="http://schemas.openxmlformats.org/drawingml/2006/main">
              <a:ext uri="{FF2B5EF4-FFF2-40B4-BE49-F238E27FC236}">
                <a16:creationId xmlns:a16="http://schemas.microsoft.com/office/drawing/2014/main" id="{9721E9CF-2B69-49A1-A3D7-34A9CB4E8C67}"/>
              </a:ext>
            </a:extLst>
          </p:cNvPr>
          <p:cNvSpPr>
            <a:spLocks xmlns:a="http://schemas.openxmlformats.org/drawingml/2006/main" noGrp="1"/>
          </p:cNvSpPr>
          <p:nvPr/>
        </p:nvSpPr>
        <p:spPr>
          <a:xfrm xmlns:a="http://schemas.openxmlformats.org/drawingml/2006/main">
            <a:off x="6191250" y="2266950"/>
            <a:ext cx="4572000" cy="11430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11" name="">
            <a:extLst xmlns:a="http://schemas.openxmlformats.org/drawingml/2006/main">
              <a:ext uri="{FF2B5EF4-FFF2-40B4-BE49-F238E27FC236}">
                <a16:creationId xmlns:a16="http://schemas.microsoft.com/office/drawing/2014/main" id="{652E6EC0-5BC7-47E9-A9C1-AB01A771389C}"/>
              </a:ext>
            </a:extLst>
          </p:cNvPr>
          <p:cNvSpPr>
            <a:spLocks xmlns:a="http://schemas.openxmlformats.org/drawingml/2006/main" noGrp="1"/>
          </p:cNvSpPr>
          <p:nvPr/>
        </p:nvSpPr>
        <p:spPr>
          <a:xfrm xmlns:a="http://schemas.openxmlformats.org/drawingml/2006/main">
            <a:off x="6438900" y="24765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B75D32"/>
                </a:solidFill>
                <a:latin typeface="Avenir Next"/>
                <a:ea typeface="Avenir Next"/>
                <a:cs typeface="Avenir Next"/>
              </a:defRPr>
            </a:pPr>
            <a:r>
              <a:rPr sz="1163" b="1">
                <a:solidFill>
                  <a:srgbClr val="B75D32"/>
                </a:solidFill>
                <a:latin typeface="Avenir Next"/>
                <a:ea typeface="Avenir Next"/>
                <a:cs typeface="Avenir Next"/>
              </a:rPr>
              <a:t>2. Phỏng vấn CFO</a:t>
            </a:r>
          </a:p>
        </p:txBody>
      </p:sp>
      <p:sp>
        <p:nvSpPr>
          <p:cNvPr id="12" name="">
            <a:extLst xmlns:a="http://schemas.openxmlformats.org/drawingml/2006/main">
              <a:ext uri="{FF2B5EF4-FFF2-40B4-BE49-F238E27FC236}">
                <a16:creationId xmlns:a16="http://schemas.microsoft.com/office/drawing/2014/main" id="{56CF9104-225C-4541-B9CA-7D0FA6943845}"/>
              </a:ext>
            </a:extLst>
          </p:cNvPr>
          <p:cNvSpPr>
            <a:spLocks xmlns:a="http://schemas.openxmlformats.org/drawingml/2006/main" noGrp="1"/>
          </p:cNvSpPr>
          <p:nvPr/>
        </p:nvSpPr>
        <p:spPr>
          <a:xfrm xmlns:a="http://schemas.openxmlformats.org/drawingml/2006/main">
            <a:off x="6438900" y="2800350"/>
            <a:ext cx="800100" cy="190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80B7A17-90D3-433C-B790-1BB07837CF8E}"/>
              </a:ext>
            </a:extLst>
          </p:cNvPr>
          <p:cNvSpPr>
            <a:spLocks xmlns:a="http://schemas.openxmlformats.org/drawingml/2006/main" noGrp="1"/>
          </p:cNvSpPr>
          <p:nvPr/>
        </p:nvSpPr>
        <p:spPr>
          <a:xfrm xmlns:a="http://schemas.openxmlformats.org/drawingml/2006/main">
            <a:off x="8153400" y="2457450"/>
            <a:ext cx="2247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A5D4F"/>
                </a:solidFill>
                <a:latin typeface="Avenir Next"/>
                <a:ea typeface="Avenir Next"/>
                <a:cs typeface="Avenir Next"/>
              </a:defRPr>
            </a:pPr>
            <a:r>
              <a:rPr sz="938" b="0">
                <a:solidFill>
                  <a:srgbClr val="6A5D4F"/>
                </a:solidFill>
                <a:latin typeface="Avenir Next"/>
                <a:ea typeface="Avenir Next"/>
                <a:cs typeface="Avenir Next"/>
              </a:rPr>
              <a:t>Alpha Corp có tài sản lớn nhưng không có tiền mặt để trả nợ và lương.</a:t>
            </a:r>
          </a:p>
        </p:txBody>
      </p:sp>
      <p:sp>
        <p:nvSpPr>
          <p:cNvPr id="14" name="">
            <a:extLst xmlns:a="http://schemas.openxmlformats.org/drawingml/2006/main">
              <a:ext uri="{FF2B5EF4-FFF2-40B4-BE49-F238E27FC236}">
                <a16:creationId xmlns:a16="http://schemas.microsoft.com/office/drawing/2014/main" id="{2870433B-36EF-480A-A425-735E17C660BD}"/>
              </a:ext>
            </a:extLst>
          </p:cNvPr>
          <p:cNvSpPr>
            <a:spLocks xmlns:a="http://schemas.openxmlformats.org/drawingml/2006/main" noGrp="1"/>
          </p:cNvSpPr>
          <p:nvPr/>
        </p:nvSpPr>
        <p:spPr>
          <a:xfrm xmlns:a="http://schemas.openxmlformats.org/drawingml/2006/main">
            <a:off x="838200" y="4019550"/>
            <a:ext cx="4572000" cy="1143000"/>
          </a:xfrm>
          <a:prstGeom xmlns:a="http://schemas.openxmlformats.org/drawingml/2006/main" prst="rect">
            <a:avLst/>
          </a:prstGeom>
          <a:solidFill xmlns:a="http://schemas.openxmlformats.org/drawingml/2006/main">
            <a:srgbClr val="171514"/>
          </a:solidFill>
          <a:ln xmlns:a="http://schemas.openxmlformats.org/drawingml/2006/main" w="9525">
            <a:solidFill>
              <a:srgbClr val="171514"/>
            </a:solidFill>
            <a:prstDash val="solid"/>
          </a:ln>
        </p:spPr>
      </p:sp>
      <p:sp>
        <p:nvSpPr>
          <p:cNvPr id="15" name="">
            <a:extLst xmlns:a="http://schemas.openxmlformats.org/drawingml/2006/main">
              <a:ext uri="{FF2B5EF4-FFF2-40B4-BE49-F238E27FC236}">
                <a16:creationId xmlns:a16="http://schemas.microsoft.com/office/drawing/2014/main" id="{C6F6E95C-7214-4D55-B574-C14DED70E571}"/>
              </a:ext>
            </a:extLst>
          </p:cNvPr>
          <p:cNvSpPr>
            <a:spLocks xmlns:a="http://schemas.openxmlformats.org/drawingml/2006/main" noGrp="1"/>
          </p:cNvSpPr>
          <p:nvPr/>
        </p:nvSpPr>
        <p:spPr>
          <a:xfrm xmlns:a="http://schemas.openxmlformats.org/drawingml/2006/main">
            <a:off x="1085850" y="42291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FFFFFF"/>
                </a:solidFill>
                <a:latin typeface="Avenir Next"/>
                <a:ea typeface="Avenir Next"/>
                <a:cs typeface="Avenir Next"/>
              </a:defRPr>
            </a:pPr>
            <a:r>
              <a:rPr sz="1163" b="1">
                <a:solidFill>
                  <a:srgbClr val="FFFFFF"/>
                </a:solidFill>
                <a:latin typeface="Avenir Next"/>
                <a:ea typeface="Avenir Next"/>
                <a:cs typeface="Avenir Next"/>
              </a:rPr>
              <a:t>3. Giải thích lý thuyết</a:t>
            </a:r>
          </a:p>
        </p:txBody>
      </p:sp>
      <p:sp>
        <p:nvSpPr>
          <p:cNvPr id="16" name="">
            <a:extLst xmlns:a="http://schemas.openxmlformats.org/drawingml/2006/main">
              <a:ext uri="{FF2B5EF4-FFF2-40B4-BE49-F238E27FC236}">
                <a16:creationId xmlns:a16="http://schemas.microsoft.com/office/drawing/2014/main" id="{17CA75EE-EAD5-4D76-A735-EB39B8B89B72}"/>
              </a:ext>
            </a:extLst>
          </p:cNvPr>
          <p:cNvSpPr>
            <a:spLocks xmlns:a="http://schemas.openxmlformats.org/drawingml/2006/main" noGrp="1"/>
          </p:cNvSpPr>
          <p:nvPr/>
        </p:nvSpPr>
        <p:spPr>
          <a:xfrm xmlns:a="http://schemas.openxmlformats.org/drawingml/2006/main">
            <a:off x="1085850" y="4552950"/>
            <a:ext cx="800100" cy="19050"/>
          </a:xfrm>
          <a:prstGeom xmlns:a="http://schemas.openxmlformats.org/drawingml/2006/main" prst="rect">
            <a:avLst/>
          </a:prstGeom>
          <a:solidFill xmlns:a="http://schemas.openxmlformats.org/drawingml/2006/main">
            <a:srgbClr val="D6A53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3CF06BD-BA07-4FDE-BA54-13F47F750116}"/>
              </a:ext>
            </a:extLst>
          </p:cNvPr>
          <p:cNvSpPr>
            <a:spLocks xmlns:a="http://schemas.openxmlformats.org/drawingml/2006/main" noGrp="1"/>
          </p:cNvSpPr>
          <p:nvPr/>
        </p:nvSpPr>
        <p:spPr>
          <a:xfrm xmlns:a="http://schemas.openxmlformats.org/drawingml/2006/main">
            <a:off x="2800350" y="4210050"/>
            <a:ext cx="2247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8D8C5"/>
                </a:solidFill>
                <a:latin typeface="Avenir Next"/>
                <a:ea typeface="Avenir Next"/>
                <a:cs typeface="Avenir Next"/>
              </a:defRPr>
            </a:pPr>
            <a:r>
              <a:rPr sz="938" b="0">
                <a:solidFill>
                  <a:srgbClr val="E8D8C5"/>
                </a:solidFill>
                <a:latin typeface="Avenir Next"/>
                <a:ea typeface="Avenir Next"/>
                <a:cs typeface="Avenir Next"/>
              </a:rPr>
              <a:t>Dùng sơ đồ T - H ... SX ... H' - T' để chỉ ra điểm nghẽn H'.</a:t>
            </a:r>
          </a:p>
        </p:txBody>
      </p:sp>
      <p:sp>
        <p:nvSpPr>
          <p:cNvPr id="18" name="">
            <a:extLst xmlns:a="http://schemas.openxmlformats.org/drawingml/2006/main">
              <a:ext uri="{FF2B5EF4-FFF2-40B4-BE49-F238E27FC236}">
                <a16:creationId xmlns:a16="http://schemas.microsoft.com/office/drawing/2014/main" id="{64B63A3C-E723-4D7F-91A9-5D4D34B61DF3}"/>
              </a:ext>
            </a:extLst>
          </p:cNvPr>
          <p:cNvSpPr>
            <a:spLocks xmlns:a="http://schemas.openxmlformats.org/drawingml/2006/main" noGrp="1"/>
          </p:cNvSpPr>
          <p:nvPr/>
        </p:nvSpPr>
        <p:spPr>
          <a:xfrm xmlns:a="http://schemas.openxmlformats.org/drawingml/2006/main">
            <a:off x="6191250" y="4019550"/>
            <a:ext cx="4572000" cy="1143000"/>
          </a:xfrm>
          <a:prstGeom xmlns:a="http://schemas.openxmlformats.org/drawingml/2006/main" prst="rect">
            <a:avLst/>
          </a:prstGeom>
          <a:solidFill xmlns:a="http://schemas.openxmlformats.org/drawingml/2006/main">
            <a:srgbClr val="FFF8E6"/>
          </a:solidFill>
          <a:ln xmlns:a="http://schemas.openxmlformats.org/drawingml/2006/main" w="9525">
            <a:solidFill>
              <a:srgbClr val="D8C8A9"/>
            </a:solidFill>
            <a:prstDash val="solid"/>
          </a:ln>
        </p:spPr>
      </p:sp>
      <p:sp>
        <p:nvSpPr>
          <p:cNvPr id="19" name="">
            <a:extLst xmlns:a="http://schemas.openxmlformats.org/drawingml/2006/main">
              <a:ext uri="{FF2B5EF4-FFF2-40B4-BE49-F238E27FC236}">
                <a16:creationId xmlns:a16="http://schemas.microsoft.com/office/drawing/2014/main" id="{FCA51BD5-8A19-4413-B7BA-75F7701AF881}"/>
              </a:ext>
            </a:extLst>
          </p:cNvPr>
          <p:cNvSpPr>
            <a:spLocks xmlns:a="http://schemas.openxmlformats.org/drawingml/2006/main" noGrp="1"/>
          </p:cNvSpPr>
          <p:nvPr/>
        </p:nvSpPr>
        <p:spPr>
          <a:xfrm xmlns:a="http://schemas.openxmlformats.org/drawingml/2006/main">
            <a:off x="6438900" y="4229100"/>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B75D32"/>
                </a:solidFill>
                <a:latin typeface="Avenir Next"/>
                <a:ea typeface="Avenir Next"/>
                <a:cs typeface="Avenir Next"/>
              </a:defRPr>
            </a:pPr>
            <a:r>
              <a:rPr sz="1163" b="1">
                <a:solidFill>
                  <a:srgbClr val="B75D32"/>
                </a:solidFill>
                <a:latin typeface="Avenir Next"/>
                <a:ea typeface="Avenir Next"/>
                <a:cs typeface="Avenir Next"/>
              </a:rPr>
              <a:t>4. Kết luận nhóm</a:t>
            </a:r>
          </a:p>
        </p:txBody>
      </p:sp>
      <p:sp>
        <p:nvSpPr>
          <p:cNvPr id="20" name="">
            <a:extLst xmlns:a="http://schemas.openxmlformats.org/drawingml/2006/main">
              <a:ext uri="{FF2B5EF4-FFF2-40B4-BE49-F238E27FC236}">
                <a16:creationId xmlns:a16="http://schemas.microsoft.com/office/drawing/2014/main" id="{A420A4A8-B5E5-4C2B-BCDD-F7F28AE7041E}"/>
              </a:ext>
            </a:extLst>
          </p:cNvPr>
          <p:cNvSpPr>
            <a:spLocks xmlns:a="http://schemas.openxmlformats.org/drawingml/2006/main" noGrp="1"/>
          </p:cNvSpPr>
          <p:nvPr/>
        </p:nvSpPr>
        <p:spPr>
          <a:xfrm xmlns:a="http://schemas.openxmlformats.org/drawingml/2006/main">
            <a:off x="6438900" y="4552950"/>
            <a:ext cx="800100" cy="19050"/>
          </a:xfrm>
          <a:prstGeom xmlns:a="http://schemas.openxmlformats.org/drawingml/2006/main" prst="rect">
            <a:avLst/>
          </a:prstGeom>
          <a:solidFill xmlns:a="http://schemas.openxmlformats.org/drawingml/2006/main">
            <a:srgbClr val="B75D3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F59B877-8656-4207-87C9-E81BD8C5D9C3}"/>
              </a:ext>
            </a:extLst>
          </p:cNvPr>
          <p:cNvSpPr>
            <a:spLocks xmlns:a="http://schemas.openxmlformats.org/drawingml/2006/main" noGrp="1"/>
          </p:cNvSpPr>
          <p:nvPr/>
        </p:nvSpPr>
        <p:spPr>
          <a:xfrm xmlns:a="http://schemas.openxmlformats.org/drawingml/2006/main">
            <a:off x="8153400" y="4210050"/>
            <a:ext cx="22479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A5D4F"/>
                </a:solidFill>
                <a:latin typeface="Avenir Next"/>
                <a:ea typeface="Avenir Next"/>
                <a:cs typeface="Avenir Next"/>
              </a:defRPr>
            </a:pPr>
            <a:r>
              <a:rPr sz="938" b="0">
                <a:solidFill>
                  <a:srgbClr val="6A5D4F"/>
                </a:solidFill>
                <a:latin typeface="Avenir Next"/>
                <a:ea typeface="Avenir Next"/>
                <a:cs typeface="Avenir Next"/>
              </a:rPr>
              <a:t>Tư bản phải tồn tại đồng thời ở ba hình thái và chuyển hóa kế tiếp đúng nhịp.</a:t>
            </a:r>
          </a:p>
        </p:txBody>
      </p:sp>
      <p:sp>
        <p:nvSpPr>
          <p:cNvPr id="22" name="">
            <a:extLst xmlns:a="http://schemas.openxmlformats.org/drawingml/2006/main">
              <a:ext uri="{FF2B5EF4-FFF2-40B4-BE49-F238E27FC236}">
                <a16:creationId xmlns:a16="http://schemas.microsoft.com/office/drawing/2014/main" id="{4A5351C2-3E22-4A86-9A84-BA33A25441EB}"/>
              </a:ext>
            </a:extLst>
          </p:cNvPr>
          <p:cNvSpPr>
            <a:spLocks xmlns:a="http://schemas.openxmlformats.org/drawingml/2006/main" noGrp="1"/>
          </p:cNvSpPr>
          <p:nvPr/>
        </p:nvSpPr>
        <p:spPr>
          <a:xfrm xmlns:a="http://schemas.openxmlformats.org/drawingml/2006/main">
            <a:off x="990600" y="5562600"/>
            <a:ext cx="9715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F1A14"/>
                </a:solidFill>
                <a:latin typeface="Georgia"/>
                <a:ea typeface="Georgia"/>
                <a:cs typeface="Georgia"/>
              </a:defRPr>
            </a:pPr>
            <a:r>
              <a:rPr sz="1200" b="1">
                <a:solidFill>
                  <a:srgbClr val="1F1A14"/>
                </a:solidFill>
                <a:latin typeface="Georgia"/>
                <a:ea typeface="Georgia"/>
                <a:cs typeface="Georgia"/>
              </a:rPr>
              <a:t>Câu kết đề xuất: Alpha Corp không thất bại vì nhà biến mất, mà vì giá trị bị cố định trong hàng hóa và chưa trở về dưới hình thái tiền.</a:t>
            </a:r>
          </a:p>
        </p:txBody>
      </p:sp>
      <p:sp>
        <p:nvSpPr>
          <p:cNvPr id="23" name="">
            <a:extLst xmlns:a="http://schemas.openxmlformats.org/drawingml/2006/main">
              <a:ext uri="{FF2B5EF4-FFF2-40B4-BE49-F238E27FC236}">
                <a16:creationId xmlns:a16="http://schemas.microsoft.com/office/drawing/2014/main" id="{3EF5FCC7-ABD5-48FF-9B63-1C61A88C3154}"/>
              </a:ext>
            </a:extLst>
          </p:cNvPr>
          <p:cNvSpPr>
            <a:spLocks xmlns:a="http://schemas.openxmlformats.org/drawingml/2006/main" noGrp="1"/>
          </p:cNvSpPr>
          <p:nvPr/>
        </p:nvSpPr>
        <p:spPr>
          <a:xfrm xmlns:a="http://schemas.openxmlformats.org/drawingml/2006/main">
            <a:off x="552450" y="6419850"/>
            <a:ext cx="11087100" cy="9525"/>
          </a:xfrm>
          <a:prstGeom xmlns:a="http://schemas.openxmlformats.org/drawingml/2006/main" prst="rect">
            <a:avLst/>
          </a:prstGeom>
          <a:solidFill xmlns:a="http://schemas.openxmlformats.org/drawingml/2006/main">
            <a:srgbClr val="D8C8A9"/>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6AF58AF-E98B-41E9-A4B3-676C8CFF6748}"/>
              </a:ext>
            </a:extLst>
          </p:cNvPr>
          <p:cNvSpPr>
            <a:spLocks xmlns:a="http://schemas.openxmlformats.org/drawingml/2006/main" noGrp="1"/>
          </p:cNvSpPr>
          <p:nvPr/>
        </p:nvSpPr>
        <p:spPr>
          <a:xfrm xmlns:a="http://schemas.openxmlformats.org/drawingml/2006/main">
            <a:off x="552450" y="6534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6A5D4F"/>
                </a:solidFill>
                <a:latin typeface="Avenir Next"/>
                <a:ea typeface="Avenir Next"/>
                <a:cs typeface="Avenir Next"/>
              </a:defRPr>
            </a:pPr>
            <a:r>
              <a:rPr sz="600" b="0">
                <a:solidFill>
                  <a:srgbClr val="6A5D4F"/>
                </a:solidFill>
                <a:latin typeface="Avenir Next"/>
                <a:ea typeface="Avenir Next"/>
                <a:cs typeface="Avenir Next"/>
              </a:rPr>
              <a:t>Gợi ý sản phẩm: phim tài liệu ngắn, phóng sự điều tra, video role-play hoặc thuyết trình sân khấu hóa</a:t>
            </a:r>
          </a:p>
        </p:txBody>
      </p:sp>
      <p:sp>
        <p:nvSpPr>
          <p:cNvPr id="25" name="">
            <a:extLst xmlns:a="http://schemas.openxmlformats.org/drawingml/2006/main">
              <a:ext uri="{FF2B5EF4-FFF2-40B4-BE49-F238E27FC236}">
                <a16:creationId xmlns:a16="http://schemas.microsoft.com/office/drawing/2014/main" id="{93B3965B-BB8F-4001-9F0C-A8518A3A68B8}"/>
              </a:ext>
            </a:extLst>
          </p:cNvPr>
          <p:cNvSpPr>
            <a:spLocks xmlns:a="http://schemas.openxmlformats.org/drawingml/2006/main" noGrp="1"/>
          </p:cNvSpPr>
          <p:nvPr/>
        </p:nvSpPr>
        <p:spPr>
          <a:xfrm xmlns:a="http://schemas.openxmlformats.org/drawingml/2006/main">
            <a:off x="11239500" y="6496050"/>
            <a:ext cx="400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1">
                <a:solidFill>
                  <a:srgbClr val="6A5D4F"/>
                </a:solidFill>
                <a:latin typeface="Georgia"/>
                <a:ea typeface="Georgia"/>
                <a:cs typeface="Georgia"/>
              </a:defRPr>
            </a:pPr>
            <a:r>
              <a:rPr sz="900" b="1">
                <a:solidFill>
                  <a:srgbClr val="6A5D4F"/>
                </a:solidFill>
                <a:latin typeface="Georgia"/>
                <a:ea typeface="Georgia"/>
                <a:cs typeface="Georgia"/>
              </a:rPr>
              <a:t>08</a:t>
            </a:r>
          </a:p>
        </p:txBody>
      </p:sp>
    </p:spTree>
    <p:extLst>
      <p:ext uri="{BB962C8B-B14F-4D97-AF65-F5344CB8AC3E}">
        <p14:creationId xmlns:p14="http://schemas.microsoft.com/office/powerpoint/2010/main" val="476389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2026-06-25T06:49:56.3110000Z</dcterms:created>
  <dcterms:modified xsi:type="dcterms:W3CDTF">2026-06-25T06:49:56.3110000Z</dcterms:modified>
</coreProperties>
</file>